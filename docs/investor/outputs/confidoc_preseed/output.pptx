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e35767e45e84a76" /><Relationship Type="http://schemas.openxmlformats.org/officeDocument/2006/relationships/extended-properties" Target="/docProps/app.xml" Id="R648734516d5c4d85" /><Relationship Type="http://schemas.openxmlformats.org/officeDocument/2006/relationships/officeDocument" Target="/ppt/presentation.xml" Id="Rf5bfb25317ce44d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35362ef26bc482e"/>
  </p:sldMasterIdLst>
  <p:notesMasterIdLst>
    <p:notesMasterId xmlns:r="http://schemas.openxmlformats.org/officeDocument/2006/relationships" r:id="Rb0e24c0a86024422"/>
  </p:notesMasterIdLst>
  <p:sldIdLst>
    <p:sldId xmlns:r="http://schemas.openxmlformats.org/officeDocument/2006/relationships" id="256" r:id="Ra51e8af5e53644c3"/>
    <p:sldId xmlns:r="http://schemas.openxmlformats.org/officeDocument/2006/relationships" id="257" r:id="R8e486ff6441145b8"/>
    <p:sldId xmlns:r="http://schemas.openxmlformats.org/officeDocument/2006/relationships" id="258" r:id="Ra4f71e200ace429b"/>
    <p:sldId xmlns:r="http://schemas.openxmlformats.org/officeDocument/2006/relationships" id="259" r:id="R94404f757f874947"/>
    <p:sldId xmlns:r="http://schemas.openxmlformats.org/officeDocument/2006/relationships" id="260" r:id="R18c34aab95de479c"/>
    <p:sldId xmlns:r="http://schemas.openxmlformats.org/officeDocument/2006/relationships" id="261" r:id="Rcc957558b46a4125"/>
    <p:sldId xmlns:r="http://schemas.openxmlformats.org/officeDocument/2006/relationships" id="262" r:id="R364b5c6c975c49c4"/>
    <p:sldId xmlns:r="http://schemas.openxmlformats.org/officeDocument/2006/relationships" id="263" r:id="R9de26f472c164f9b"/>
    <p:sldId xmlns:r="http://schemas.openxmlformats.org/officeDocument/2006/relationships" id="264" r:id="Rc0c45e0723284b60"/>
    <p:sldId xmlns:r="http://schemas.openxmlformats.org/officeDocument/2006/relationships" id="265" r:id="Rb06b5682e6884ded"/>
    <p:sldId xmlns:r="http://schemas.openxmlformats.org/officeDocument/2006/relationships" id="266" r:id="R8cacdcc128a443fe"/>
    <p:sldId xmlns:r="http://schemas.openxmlformats.org/officeDocument/2006/relationships" id="267" r:id="R3b7ec013500f45c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5362ef26bc482e" /><Relationship Type="http://schemas.openxmlformats.org/officeDocument/2006/relationships/theme" Target="/ppt/theme/theme1.xml" Id="R6b02b223f29f4ee9" /><Relationship Type="http://schemas.openxmlformats.org/officeDocument/2006/relationships/notesMaster" Target="/ppt/notesMasters/notesMaster1.xml" Id="Rb0e24c0a86024422" /><Relationship Type="http://schemas.openxmlformats.org/officeDocument/2006/relationships/presProps" Target="/ppt/presProps.xml" Id="R97cc556db466402c" /><Relationship Type="http://schemas.openxmlformats.org/officeDocument/2006/relationships/viewProps" Target="/ppt/viewProps.xml" Id="Rdd55ca4ac637482b" /><Relationship Type="http://schemas.openxmlformats.org/officeDocument/2006/relationships/tableStyles" Target="/ppt/tableStyles.xml" Id="Redd85eb1915f4c45" /><Relationship Type="http://schemas.openxmlformats.org/officeDocument/2006/relationships/slide" Target="/ppt/slides/slide1.xml" Id="Ra51e8af5e53644c3" /><Relationship Type="http://schemas.openxmlformats.org/officeDocument/2006/relationships/slide" Target="/ppt/slides/slide2.xml" Id="R8e486ff6441145b8" /><Relationship Type="http://schemas.openxmlformats.org/officeDocument/2006/relationships/slide" Target="/ppt/slides/slide3.xml" Id="Ra4f71e200ace429b" /><Relationship Type="http://schemas.openxmlformats.org/officeDocument/2006/relationships/slide" Target="/ppt/slides/slide4.xml" Id="R94404f757f874947" /><Relationship Type="http://schemas.openxmlformats.org/officeDocument/2006/relationships/slide" Target="/ppt/slides/slide5.xml" Id="R18c34aab95de479c" /><Relationship Type="http://schemas.openxmlformats.org/officeDocument/2006/relationships/slide" Target="/ppt/slides/slide6.xml" Id="Rcc957558b46a4125" /><Relationship Type="http://schemas.openxmlformats.org/officeDocument/2006/relationships/slide" Target="/ppt/slides/slide7.xml" Id="R364b5c6c975c49c4" /><Relationship Type="http://schemas.openxmlformats.org/officeDocument/2006/relationships/slide" Target="/ppt/slides/slide8.xml" Id="R9de26f472c164f9b" /><Relationship Type="http://schemas.openxmlformats.org/officeDocument/2006/relationships/slide" Target="/ppt/slides/slide9.xml" Id="Rc0c45e0723284b60" /><Relationship Type="http://schemas.openxmlformats.org/officeDocument/2006/relationships/slide" Target="/ppt/slides/slide10.xml" Id="Rb06b5682e6884ded" /><Relationship Type="http://schemas.openxmlformats.org/officeDocument/2006/relationships/slide" Target="/ppt/slides/slide11.xml" Id="R8cacdcc128a443fe" /><Relationship Type="http://schemas.openxmlformats.org/officeDocument/2006/relationships/slide" Target="/ppt/slides/slide12.xml" Id="R3b7ec013500f45c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9e21ea8d251e436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onfiDoc Security">
  <a:themeElements>
    <a:clrScheme name="ConfiDoc Security">
      <a:accent1>
        <a:srgbClr val="3EE0A6"/>
      </a:accent1>
      <a:accent2>
        <a:srgbClr val="74A8FF"/>
      </a:accent2>
      <a:accent3>
        <a:srgbClr val="F4BE5E"/>
      </a:accent3>
      <a:accent4>
        <a:srgbClr val="FF6B6B"/>
      </a:accent4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onfiDoc Security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9f8039309ff4843" /><Relationship Type="http://schemas.openxmlformats.org/officeDocument/2006/relationships/notesMaster" Target="/ppt/notesMasters/notesMaster1.xml" Id="Re345c1fb75db451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1a072c6b96f41f9" /><Relationship Type="http://schemas.openxmlformats.org/officeDocument/2006/relationships/notesMaster" Target="/ppt/notesMasters/notesMaster1.xml" Id="R9d09ca1002ff40b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22090f2eda94357" /><Relationship Type="http://schemas.openxmlformats.org/officeDocument/2006/relationships/notesMaster" Target="/ppt/notesMasters/notesMaster1.xml" Id="R44f6c00fc59d4b9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c5367c7ed644416" /><Relationship Type="http://schemas.openxmlformats.org/officeDocument/2006/relationships/notesMaster" Target="/ppt/notesMasters/notesMaster1.xml" Id="R809ef0e8f0c14ac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75a4692429b4cac" /><Relationship Type="http://schemas.openxmlformats.org/officeDocument/2006/relationships/notesMaster" Target="/ppt/notesMasters/notesMaster1.xml" Id="R424a06e2b1e8450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36c8c90c0594ee3" /><Relationship Type="http://schemas.openxmlformats.org/officeDocument/2006/relationships/notesMaster" Target="/ppt/notesMasters/notesMaster1.xml" Id="Rfea807aeb4ca47f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5d790f7daad4204" /><Relationship Type="http://schemas.openxmlformats.org/officeDocument/2006/relationships/notesMaster" Target="/ppt/notesMasters/notesMaster1.xml" Id="Rd0823c07362f470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d1a5df6416943a1" /><Relationship Type="http://schemas.openxmlformats.org/officeDocument/2006/relationships/notesMaster" Target="/ppt/notesMasters/notesMaster1.xml" Id="R6a64c7def34f480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47778da2e424913" /><Relationship Type="http://schemas.openxmlformats.org/officeDocument/2006/relationships/notesMaster" Target="/ppt/notesMasters/notesMaster1.xml" Id="R97f79932954343e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7e6fa2558ce4fa0" /><Relationship Type="http://schemas.openxmlformats.org/officeDocument/2006/relationships/notesMaster" Target="/ppt/notesMasters/notesMaster1.xml" Id="Rf2eab961310a442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b187a94725b4319" /><Relationship Type="http://schemas.openxmlformats.org/officeDocument/2006/relationships/notesMaster" Target="/ppt/notesMasters/notesMaster1.xml" Id="Rbfd6b52fb1ca43c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cf850fb99184724" /><Relationship Type="http://schemas.openxmlformats.org/officeDocument/2006/relationships/notesMaster" Target="/ppt/notesMasters/notesMaster1.xml" Id="R07884861f6724e2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43b9dad91a4fad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BA3CD22E-3D33-4AC6-9F84-1F10D10D5B09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92516528-CFD9-40ED-A11E-152AEB5A3114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56D1D9A-8248-46C0-A35D-E349BF2EDB23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CDF3DB1-3D02-40B8-8D14-D1EE7CD49ECD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5A7A395-C11B-4B66-AB7F-F57A2B42D10B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8c93e6fc28d64f9d" /><Relationship Type="http://schemas.openxmlformats.org/officeDocument/2006/relationships/slideLayout" Target="/ppt/slideLayouts/slideLayout2.xml" Id="Ra609ff2621e7418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17962F6-44C2-40DA-894F-6256116B4B60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09ff2621e7418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1d1a77489bb4e0b" /><Relationship Type="http://schemas.openxmlformats.org/officeDocument/2006/relationships/notesSlide" Target="/ppt/notesSlides/notesSlide1.xml" Id="R0335d68749644cc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c3c732982ff411c" /><Relationship Type="http://schemas.openxmlformats.org/officeDocument/2006/relationships/notesSlide" Target="/ppt/notesSlides/notesSlide2.xml" Id="R2e63858a3e9b4d6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51ea24237a84c14" /><Relationship Type="http://schemas.openxmlformats.org/officeDocument/2006/relationships/notesSlide" Target="/ppt/notesSlides/notesSlide3.xml" Id="R423ee70e8ced431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ad4eaee0b364a5b" /><Relationship Type="http://schemas.openxmlformats.org/officeDocument/2006/relationships/notesSlide" Target="/ppt/notesSlides/notesSlide4.xml" Id="Rbab840b1d4594c0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9c71c71e0a446a6" /><Relationship Type="http://schemas.openxmlformats.org/officeDocument/2006/relationships/notesSlide" Target="/ppt/notesSlides/notesSlide5.xml" Id="R125ac59b66b144c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27de8acf6ff4572" /><Relationship Type="http://schemas.openxmlformats.org/officeDocument/2006/relationships/notesSlide" Target="/ppt/notesSlides/notesSlide6.xml" Id="R32e07c2649874c9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4f0ee2173e1411d" /><Relationship Type="http://schemas.openxmlformats.org/officeDocument/2006/relationships/notesSlide" Target="/ppt/notesSlides/notesSlide7.xml" Id="R8bd2f8cccf5f421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570a44434624acb" /><Relationship Type="http://schemas.openxmlformats.org/officeDocument/2006/relationships/notesSlide" Target="/ppt/notesSlides/notesSlide8.xml" Id="Re804968f815549b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82b062514084b2c" /><Relationship Type="http://schemas.openxmlformats.org/officeDocument/2006/relationships/notesSlide" Target="/ppt/notesSlides/notesSlide9.xml" Id="Rcc8bf1029c6e49f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8c0a39ba9a44ee8" /><Relationship Type="http://schemas.openxmlformats.org/officeDocument/2006/relationships/notesSlide" Target="/ppt/notesSlides/notesSlide10.xml" Id="Re36d20e2886f453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edb0945a8744ac9" /><Relationship Type="http://schemas.openxmlformats.org/officeDocument/2006/relationships/notesSlide" Target="/ppt/notesSlides/notesSlide11.xml" Id="Rbef44e4fff4e405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152416d41ce48ee" /><Relationship Type="http://schemas.openxmlformats.org/officeDocument/2006/relationships/notesSlide" Target="/ppt/notesSlides/notesSlide12.xml" Id="R9437a067e55144a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5A7A395-C11B-4B66-AB7F-F57A2B42D10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053C7D-9F17-4F85-BE2B-C177B28B5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4"/>
          </a:solidFill>
          <a:ln xmlns:a="http://schemas.openxmlformats.org/drawingml/2006/main" w="0">
            <a:solidFill>
              <a:srgbClr val="07101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7C51A2-239A-4B84-89B4-3F30FEE16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-1714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C43"/>
          </a:solidFill>
          <a:ln xmlns:a="http://schemas.openxmlformats.org/drawingml/2006/main" w="0">
            <a:solidFill>
              <a:srgbClr val="153C4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E95AAD-A339-4A0C-8946-1BB8CF366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0" y="4476750"/>
            <a:ext cx="4191000" cy="419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D35"/>
          </a:solidFill>
          <a:ln xmlns:a="http://schemas.openxmlformats.org/drawingml/2006/main" w="0">
            <a:solidFill>
              <a:srgbClr val="102D3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87D453-CCC3-4139-AE9E-D7AF3A754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3">
              <a:alpha val="80000"/>
            </a:srgbClr>
          </a:solidFill>
          <a:ln xmlns:a="http://schemas.openxmlformats.org/drawingml/2006/main" w="0">
            <a:solidFill>
              <a:srgbClr val="061013">
                <a:alpha val="80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255E3F-4425-4AB9-8467-640FC9B90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EE0A6"/>
                </a:solidFill>
              </a:defRPr>
            </a:pPr>
            <a:r>
              <a:rPr sz="975" b="1">
                <a:solidFill>
                  <a:srgbClr val="3EE0A6"/>
                </a:solidFill>
              </a:rPr>
              <a:t>PRE-SEED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257F23-6E25-4D3B-A648-A99701A7A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3850"/>
            <a:ext cx="1000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6BBB8"/>
                </a:solidFill>
              </a:defRPr>
            </a:pPr>
            <a:r>
              <a:rPr sz="975" b="1">
                <a:solidFill>
                  <a:srgbClr val="A6BBB8"/>
                </a:solidFill>
              </a:rPr>
              <a:t>01 / 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8C418D-78BD-407E-9257-02C44E656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"/>
            <a:ext cx="10991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4B55"/>
          </a:solidFill>
          <a:ln xmlns:a="http://schemas.openxmlformats.org/drawingml/2006/main" w="0">
            <a:solidFill>
              <a:srgbClr val="2C4B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DC5603-5D15-4B3D-AB9D-6C60FA633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52550"/>
            <a:ext cx="6096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4FBF9"/>
                </a:solidFill>
              </a:defRPr>
            </a:pPr>
            <a:r>
              <a:rPr sz="4350" b="1">
                <a:solidFill>
                  <a:srgbClr val="F4FBF9"/>
                </a:solidFill>
              </a:rPr>
              <a:t>ConfiDoc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875040-5D2B-4A87-9810-702568AA6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685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EE0A6"/>
                </a:solidFill>
              </a:defRPr>
            </a:pPr>
            <a:r>
              <a:rPr sz="1875" b="1">
                <a:solidFill>
                  <a:srgbClr val="3EE0A6"/>
                </a:solidFill>
              </a:rPr>
              <a:t>Secure AI Chat for confidential documents.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47B619-304E-49DF-9C0C-6F341E58B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48000"/>
            <a:ext cx="6477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BF9"/>
                </a:solidFill>
              </a:defRPr>
            </a:pPr>
            <a:r>
              <a:rPr sz="1650" b="0">
                <a:solidFill>
                  <a:srgbClr val="F4FBF9"/>
                </a:solidFill>
              </a:rPr>
              <a:t>Anonymisez un document sensible, discutez avec l'IA sur la version sécurisée, prouvez ce qui a été exposé.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FB775B-8A85-45B3-BDA2-04FEFE104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24000"/>
            <a:ext cx="2857500" cy="3238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2252C"/>
          </a:solidFill>
          <a:ln xmlns:a="http://schemas.openxmlformats.org/drawingml/2006/main" w="11430">
            <a:solidFill>
              <a:srgbClr val="2C4B5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712FA0-3F1D-420F-9753-FE5CDD8D2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95500"/>
            <a:ext cx="2000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F4FBF9"/>
                </a:solidFill>
              </a:defRPr>
            </a:pPr>
            <a:r>
              <a:rPr sz="2625" b="1">
                <a:solidFill>
                  <a:srgbClr val="F4FBF9"/>
                </a:solidFill>
              </a:rPr>
              <a:t>Anonymize</a:t>
            </a:r>
          </a:p>
          <a:p xmlns:a="http://schemas.openxmlformats.org/drawingml/2006/main">
            <a:pPr algn="ctr">
              <a:defRPr sz="2625" b="1">
                <a:solidFill>
                  <a:srgbClr val="F4FBF9"/>
                </a:solidFill>
              </a:defRPr>
            </a:pPr>
            <a:r>
              <a:rPr sz="2625" b="1">
                <a:solidFill>
                  <a:srgbClr val="F4FBF9"/>
                </a:solidFill>
              </a:rPr>
              <a:t>Ask</a:t>
            </a:r>
          </a:p>
          <a:p xmlns:a="http://schemas.openxmlformats.org/drawingml/2006/main">
            <a:pPr algn="ctr">
              <a:defRPr sz="2625" b="1">
                <a:solidFill>
                  <a:srgbClr val="F4FBF9"/>
                </a:solidFill>
              </a:defRPr>
            </a:pPr>
            <a:r>
              <a:rPr sz="2625" b="1">
                <a:solidFill>
                  <a:srgbClr val="F4FBF9"/>
                </a:solidFill>
              </a:rPr>
              <a:t>Prove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556EFD-FDA3-4BAA-A6B1-207221B15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6BBB8"/>
                </a:solidFill>
              </a:defRPr>
            </a:pPr>
            <a:r>
              <a:rPr sz="1125" b="0">
                <a:solidFill>
                  <a:srgbClr val="A6BBB8"/>
                </a:solidFill>
              </a:rPr>
              <a:t>Pre-seed deck</a:t>
            </a:r>
          </a:p>
        </p:txBody>
      </p:sp>
    </p:spTree>
    <p:extLst>
      <p:ext uri="{BB962C8B-B14F-4D97-AF65-F5344CB8AC3E}">
        <p14:creationId xmlns:p14="http://schemas.microsoft.com/office/powerpoint/2010/main" val="20026569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5A7A395-C11B-4B66-AB7F-F57A2B42D10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3E783B-665B-463C-BBD6-57020FB6D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4"/>
          </a:solidFill>
          <a:ln xmlns:a="http://schemas.openxmlformats.org/drawingml/2006/main" w="0">
            <a:solidFill>
              <a:srgbClr val="07101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377CC2-CC57-4EB9-A5EB-1C919A7E5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-1714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C43"/>
          </a:solidFill>
          <a:ln xmlns:a="http://schemas.openxmlformats.org/drawingml/2006/main" w="0">
            <a:solidFill>
              <a:srgbClr val="153C4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D74B4D-ECAE-4602-B8D9-8D165E7CA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0" y="4476750"/>
            <a:ext cx="4191000" cy="419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D35"/>
          </a:solidFill>
          <a:ln xmlns:a="http://schemas.openxmlformats.org/drawingml/2006/main" w="0">
            <a:solidFill>
              <a:srgbClr val="102D3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F099EB-D0FB-4D50-9738-D27B8F79E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3">
              <a:alpha val="80000"/>
            </a:srgbClr>
          </a:solidFill>
          <a:ln xmlns:a="http://schemas.openxmlformats.org/drawingml/2006/main" w="0">
            <a:solidFill>
              <a:srgbClr val="061013">
                <a:alpha val="80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0F4DF9-223D-4792-B7CE-29370F982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EE0A6"/>
                </a:solidFill>
              </a:defRPr>
            </a:pPr>
            <a:r>
              <a:rPr sz="975" b="1">
                <a:solidFill>
                  <a:srgbClr val="3EE0A6"/>
                </a:solidFill>
              </a:rPr>
              <a:t>PROBLEME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FF9AFA-171E-4C35-BB51-3C69D6423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3850"/>
            <a:ext cx="1000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6BBB8"/>
                </a:solidFill>
              </a:defRPr>
            </a:pPr>
            <a:r>
              <a:rPr sz="975" b="1">
                <a:solidFill>
                  <a:srgbClr val="A6BBB8"/>
                </a:solidFill>
              </a:rPr>
              <a:t>02 / 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502455-FDC3-446B-8497-B0DB2FAC9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"/>
            <a:ext cx="10991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4B55"/>
          </a:solidFill>
          <a:ln xmlns:a="http://schemas.openxmlformats.org/drawingml/2006/main" w="0">
            <a:solidFill>
              <a:srgbClr val="2C4B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D7AAE7-8951-4AC4-B421-59FD4FAF1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7239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4FBF9"/>
                </a:solidFill>
              </a:defRPr>
            </a:pPr>
            <a:r>
              <a:rPr sz="3000" b="1">
                <a:solidFill>
                  <a:srgbClr val="F4FBF9"/>
                </a:solidFill>
              </a:rPr>
              <a:t>Documents sensibles : l'IA reste bloquée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52EDDB-E6EF-424E-8989-72A53582F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7429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6BBB8"/>
                </a:solidFill>
              </a:defRPr>
            </a:pPr>
            <a:r>
              <a:rPr sz="1350" b="0">
                <a:solidFill>
                  <a:srgbClr val="A6BBB8"/>
                </a:solidFill>
              </a:rPr>
              <a:t>Bilans, contrats, liasses et dossiers clients sont utiles, mais trop sensibles pour être envoyés bruts à un modèle.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CD0645-D2CE-4A26-8657-B00FF94AD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71850"/>
            <a:ext cx="3238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2252C"/>
          </a:solidFill>
          <a:ln xmlns:a="http://schemas.openxmlformats.org/drawingml/2006/main" w="11430">
            <a:solidFill>
              <a:srgbClr val="2C4B5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891982-A993-43B9-AF1D-880DCC6C6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71850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E0A6"/>
          </a:solidFill>
          <a:ln xmlns:a="http://schemas.openxmlformats.org/drawingml/2006/main" w="0">
            <a:solidFill>
              <a:srgbClr val="3EE0A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72A9C2-91F4-428C-9B57-D4227FACD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81400"/>
            <a:ext cx="2781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EE0A6"/>
                </a:solidFill>
              </a:defRPr>
            </a:pPr>
            <a:r>
              <a:rPr sz="1425" b="1">
                <a:solidFill>
                  <a:srgbClr val="3EE0A6"/>
                </a:solidFill>
              </a:rPr>
              <a:t>Fuite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33F02E-16D8-4674-B871-9B35971C2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43350"/>
            <a:ext cx="2781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BF9"/>
                </a:solidFill>
              </a:defRPr>
            </a:pPr>
            <a:r>
              <a:rPr sz="1200" b="0">
                <a:solidFill>
                  <a:srgbClr val="F4FBF9"/>
                </a:solidFill>
              </a:rPr>
              <a:t>Données personnelles, bancaires et financières exposées.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435B99-3B1E-4D64-BD91-A0BB765EB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371850"/>
            <a:ext cx="3238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2252C"/>
          </a:solidFill>
          <a:ln xmlns:a="http://schemas.openxmlformats.org/drawingml/2006/main" w="11430">
            <a:solidFill>
              <a:srgbClr val="2C4B5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3122C0-A4D5-48BC-B5BD-1BE0BFC42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371850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A8FF"/>
          </a:solidFill>
          <a:ln xmlns:a="http://schemas.openxmlformats.org/drawingml/2006/main" w="0">
            <a:solidFill>
              <a:srgbClr val="74A8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4B739A-52D9-49E4-9C44-D8C3D81F2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81400"/>
            <a:ext cx="2781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4A8FF"/>
                </a:solidFill>
              </a:defRPr>
            </a:pPr>
            <a:r>
              <a:rPr sz="1425" b="1">
                <a:solidFill>
                  <a:srgbClr val="74A8FF"/>
                </a:solidFill>
              </a:rPr>
              <a:t>Conformité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B62599-B184-4EA1-A240-1556ADF0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43350"/>
            <a:ext cx="2781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BF9"/>
                </a:solidFill>
              </a:defRPr>
            </a:pPr>
            <a:r>
              <a:rPr sz="1200" b="0">
                <a:solidFill>
                  <a:srgbClr val="F4FBF9"/>
                </a:solidFill>
              </a:rPr>
              <a:t>RGPD, secret professionnel et clauses de confidentialité.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D828FE-7061-45FF-99CB-DF8A7ACFE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371850"/>
            <a:ext cx="3238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2252C"/>
          </a:solidFill>
          <a:ln xmlns:a="http://schemas.openxmlformats.org/drawingml/2006/main" w="11430">
            <a:solidFill>
              <a:srgbClr val="2C4B5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741441-EFF6-4E87-9A12-734C22E90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371850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E5E"/>
          </a:solidFill>
          <a:ln xmlns:a="http://schemas.openxmlformats.org/drawingml/2006/main" w="0">
            <a:solidFill>
              <a:srgbClr val="F4BE5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39546C-F249-4465-8A3F-C3752189E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581400"/>
            <a:ext cx="2781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BE5E"/>
                </a:solidFill>
              </a:defRPr>
            </a:pPr>
            <a:r>
              <a:rPr sz="1425" b="1">
                <a:solidFill>
                  <a:srgbClr val="F4BE5E"/>
                </a:solidFill>
              </a:rPr>
              <a:t>Preuve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53ACDA-FB12-483F-95F2-FDC13FD24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943350"/>
            <a:ext cx="2781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BF9"/>
                </a:solidFill>
              </a:defRPr>
            </a:pPr>
            <a:r>
              <a:rPr sz="1200" b="0">
                <a:solidFill>
                  <a:srgbClr val="F4FBF9"/>
                </a:solidFill>
              </a:rPr>
              <a:t>Aucune trace opposable de ce que l'IA a vu ou produit.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11A391-15FA-4896-BA07-F8D227505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6BBB8"/>
                </a:solidFill>
              </a:defRPr>
            </a:pPr>
            <a:r>
              <a:rPr sz="900" b="0">
                <a:solidFill>
                  <a:srgbClr val="A6BBB8"/>
                </a:solidFill>
              </a:rPr>
              <a:t>ConfiDoc | Secure AI Chat</a:t>
            </a:r>
          </a:p>
        </p:txBody>
      </p:sp>
    </p:spTree>
    <p:extLst>
      <p:ext uri="{BB962C8B-B14F-4D97-AF65-F5344CB8AC3E}">
        <p14:creationId xmlns:p14="http://schemas.microsoft.com/office/powerpoint/2010/main" val="4452112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5A7A395-C11B-4B66-AB7F-F57A2B42D10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6C5291-73F8-4E34-86D1-18F9201BC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4"/>
          </a:solidFill>
          <a:ln xmlns:a="http://schemas.openxmlformats.org/drawingml/2006/main" w="0">
            <a:solidFill>
              <a:srgbClr val="07101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477929-E4BE-45C4-BA33-995199C26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-1714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C43"/>
          </a:solidFill>
          <a:ln xmlns:a="http://schemas.openxmlformats.org/drawingml/2006/main" w="0">
            <a:solidFill>
              <a:srgbClr val="153C4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BF0576-6535-493E-93D3-2FCE0B34E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0" y="4476750"/>
            <a:ext cx="4191000" cy="419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D35"/>
          </a:solidFill>
          <a:ln xmlns:a="http://schemas.openxmlformats.org/drawingml/2006/main" w="0">
            <a:solidFill>
              <a:srgbClr val="102D3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6B1553-2B20-4413-BA46-34FE23919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3">
              <a:alpha val="80000"/>
            </a:srgbClr>
          </a:solidFill>
          <a:ln xmlns:a="http://schemas.openxmlformats.org/drawingml/2006/main" w="0">
            <a:solidFill>
              <a:srgbClr val="061013">
                <a:alpha val="80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12F294-55E4-464F-BD17-6B3EC5EC1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EE0A6"/>
                </a:solidFill>
              </a:defRPr>
            </a:pPr>
            <a:r>
              <a:rPr sz="975" b="1">
                <a:solidFill>
                  <a:srgbClr val="3EE0A6"/>
                </a:solidFill>
              </a:rPr>
              <a:t>TIMING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33BD95-CCB4-46C0-AE20-789B193E8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3850"/>
            <a:ext cx="1000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6BBB8"/>
                </a:solidFill>
              </a:defRPr>
            </a:pPr>
            <a:r>
              <a:rPr sz="975" b="1">
                <a:solidFill>
                  <a:srgbClr val="A6BBB8"/>
                </a:solidFill>
              </a:rPr>
              <a:t>03 / 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669E66-BFAE-406B-9CF1-3A4FFFB0C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"/>
            <a:ext cx="10991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4B55"/>
          </a:solidFill>
          <a:ln xmlns:a="http://schemas.openxmlformats.org/drawingml/2006/main" w="0">
            <a:solidFill>
              <a:srgbClr val="2C4B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AC8C20-4045-49EF-920D-CF8C33365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7239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4FBF9"/>
                </a:solidFill>
              </a:defRPr>
            </a:pPr>
            <a:r>
              <a:rPr sz="3000" b="1">
                <a:solidFill>
                  <a:srgbClr val="F4FBF9"/>
                </a:solidFill>
              </a:rPr>
              <a:t>Le marché passe de tester l'IA à la gouverner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262AB4-09B1-4E9E-90F8-AB93DF81D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7429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6BBB8"/>
                </a:solidFill>
              </a:defRPr>
            </a:pPr>
            <a:r>
              <a:rPr sz="1350" b="0">
                <a:solidFill>
                  <a:srgbClr val="A6BBB8"/>
                </a:solidFill>
              </a:rPr>
              <a:t>Les agents IA et connecteurs type MCP rendent le contrôle d'accès aux données urgent.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9E63AD-307A-4400-B2E1-7B23E65DE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71850"/>
            <a:ext cx="3238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2252C"/>
          </a:solidFill>
          <a:ln xmlns:a="http://schemas.openxmlformats.org/drawingml/2006/main" w="11430">
            <a:solidFill>
              <a:srgbClr val="2C4B5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0D836F-B689-4755-9A81-3DF1B949F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71850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E0A6"/>
          </a:solidFill>
          <a:ln xmlns:a="http://schemas.openxmlformats.org/drawingml/2006/main" w="0">
            <a:solidFill>
              <a:srgbClr val="3EE0A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492116-7D53-4B8E-BB77-DA0769634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81400"/>
            <a:ext cx="2781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EE0A6"/>
                </a:solidFill>
              </a:defRPr>
            </a:pPr>
            <a:r>
              <a:rPr sz="1425" b="1">
                <a:solidFill>
                  <a:srgbClr val="3EE0A6"/>
                </a:solidFill>
              </a:rPr>
              <a:t>Adoption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FE2BCB-5360-4074-889F-47C54BFBD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43350"/>
            <a:ext cx="2781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BF9"/>
                </a:solidFill>
              </a:defRPr>
            </a:pPr>
            <a:r>
              <a:rPr sz="1200" b="0">
                <a:solidFill>
                  <a:srgbClr val="F4FBF9"/>
                </a:solidFill>
              </a:rPr>
              <a:t>ChatGPT, Claude, Mistral, Copilot et agents internes arrivent déjà dans les équipes.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50B178-D112-42E4-A905-1F697FCF8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371850"/>
            <a:ext cx="3238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2252C"/>
          </a:solidFill>
          <a:ln xmlns:a="http://schemas.openxmlformats.org/drawingml/2006/main" w="11430">
            <a:solidFill>
              <a:srgbClr val="2C4B5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9B4859-716E-4601-B49B-D9453C628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371850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A8FF"/>
          </a:solidFill>
          <a:ln xmlns:a="http://schemas.openxmlformats.org/drawingml/2006/main" w="0">
            <a:solidFill>
              <a:srgbClr val="74A8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068F80-2CAE-41B0-A106-AE3702F4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81400"/>
            <a:ext cx="2781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4A8FF"/>
                </a:solidFill>
              </a:defRPr>
            </a:pPr>
            <a:r>
              <a:rPr sz="1425" b="1">
                <a:solidFill>
                  <a:srgbClr val="74A8FF"/>
                </a:solidFill>
              </a:rPr>
              <a:t>Contrôle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4F9E1D-5156-40D7-AE9B-2FF4D2A00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43350"/>
            <a:ext cx="2781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BF9"/>
                </a:solidFill>
              </a:defRPr>
            </a:pPr>
            <a:r>
              <a:rPr sz="1200" b="0">
                <a:solidFill>
                  <a:srgbClr val="F4FBF9"/>
                </a:solidFill>
              </a:rPr>
              <a:t>DPO et RSSI demandent traces, politiques et blocage des fuites avant de valider.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1F3E88-9337-4313-8E91-38AB44C14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371850"/>
            <a:ext cx="3238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2252C"/>
          </a:solidFill>
          <a:ln xmlns:a="http://schemas.openxmlformats.org/drawingml/2006/main" w="11430">
            <a:solidFill>
              <a:srgbClr val="2C4B5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F24417-6B4B-44EF-B0EC-59A027752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371850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E5E"/>
          </a:solidFill>
          <a:ln xmlns:a="http://schemas.openxmlformats.org/drawingml/2006/main" w="0">
            <a:solidFill>
              <a:srgbClr val="F4BE5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4F9187-FF76-4630-8690-E8ABE6FDF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581400"/>
            <a:ext cx="2781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BE5E"/>
                </a:solidFill>
              </a:defRPr>
            </a:pPr>
            <a:r>
              <a:rPr sz="1425" b="1">
                <a:solidFill>
                  <a:srgbClr val="F4BE5E"/>
                </a:solidFill>
              </a:rPr>
              <a:t>Catégorie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A79ABA-A205-43FB-8E83-43DADF7C0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943350"/>
            <a:ext cx="2781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BF9"/>
                </a:solidFill>
              </a:defRPr>
            </a:pPr>
            <a:r>
              <a:rPr sz="1200" b="0">
                <a:solidFill>
                  <a:srgbClr val="F4FBF9"/>
                </a:solidFill>
              </a:rPr>
              <a:t>OWASP, NIST et MCP structurent une nouvelle catégorie : sécurité des workflows IA.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F16DE0-4BB6-4A81-A4D9-476FCB79B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6BBB8"/>
                </a:solidFill>
              </a:defRPr>
            </a:pPr>
            <a:r>
              <a:rPr sz="900" b="0">
                <a:solidFill>
                  <a:srgbClr val="A6BBB8"/>
                </a:solidFill>
              </a:rPr>
              <a:t>ConfiDoc | Secure AI Chat</a:t>
            </a:r>
          </a:p>
        </p:txBody>
      </p:sp>
    </p:spTree>
    <p:extLst>
      <p:ext uri="{BB962C8B-B14F-4D97-AF65-F5344CB8AC3E}">
        <p14:creationId xmlns:p14="http://schemas.microsoft.com/office/powerpoint/2010/main" val="6103635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5A7A395-C11B-4B66-AB7F-F57A2B42D10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D42E3B-80E7-4008-8466-86B72DA7C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4"/>
          </a:solidFill>
          <a:ln xmlns:a="http://schemas.openxmlformats.org/drawingml/2006/main" w="0">
            <a:solidFill>
              <a:srgbClr val="07101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2C6A77-1F5A-48A7-835E-145E2D172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-1714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C43"/>
          </a:solidFill>
          <a:ln xmlns:a="http://schemas.openxmlformats.org/drawingml/2006/main" w="0">
            <a:solidFill>
              <a:srgbClr val="153C4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F0F095-CBB1-4BE9-A76A-1D4F8DB24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0" y="4476750"/>
            <a:ext cx="4191000" cy="419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D35"/>
          </a:solidFill>
          <a:ln xmlns:a="http://schemas.openxmlformats.org/drawingml/2006/main" w="0">
            <a:solidFill>
              <a:srgbClr val="102D3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7655CB-4875-4991-947B-5B0AB8457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3">
              <a:alpha val="80000"/>
            </a:srgbClr>
          </a:solidFill>
          <a:ln xmlns:a="http://schemas.openxmlformats.org/drawingml/2006/main" w="0">
            <a:solidFill>
              <a:srgbClr val="061013">
                <a:alpha val="80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5BCD31-0366-4876-A9DA-BEF6092B0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EE0A6"/>
                </a:solidFill>
              </a:defRPr>
            </a:pPr>
            <a:r>
              <a:rPr sz="975" b="1">
                <a:solidFill>
                  <a:srgbClr val="3EE0A6"/>
                </a:solidFill>
              </a:rPr>
              <a:t>SOLUTION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A08D7B-1C0F-4078-B6CF-E8576B13E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3850"/>
            <a:ext cx="1000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6BBB8"/>
                </a:solidFill>
              </a:defRPr>
            </a:pPr>
            <a:r>
              <a:rPr sz="975" b="1">
                <a:solidFill>
                  <a:srgbClr val="A6BBB8"/>
                </a:solidFill>
              </a:rPr>
              <a:t>04 / 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FACD2D-7411-4CB5-89FD-F21297C9A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"/>
            <a:ext cx="10991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4B55"/>
          </a:solidFill>
          <a:ln xmlns:a="http://schemas.openxmlformats.org/drawingml/2006/main" w="0">
            <a:solidFill>
              <a:srgbClr val="2C4B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8B0BB5-915B-49D4-8D49-3A6E579B6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7239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4FBF9"/>
                </a:solidFill>
              </a:defRPr>
            </a:pPr>
            <a:r>
              <a:rPr sz="3000" b="1">
                <a:solidFill>
                  <a:srgbClr val="F4FBF9"/>
                </a:solidFill>
              </a:rPr>
              <a:t>Une zone IA-safe pour documents confidentiels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84AF34-6144-40AE-890C-50F13DB74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7429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6BBB8"/>
                </a:solidFill>
              </a:defRPr>
            </a:pPr>
            <a:r>
              <a:rPr sz="1350" b="0">
                <a:solidFill>
                  <a:srgbClr val="A6BBB8"/>
                </a:solidFill>
              </a:rPr>
              <a:t>ConfiDoc intercepte le document avant l'IA, crée une version sécurisée, puis contrôle ce qui sort.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5C81D4-0E07-4D6B-93A0-57B28A95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16573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2252C"/>
          </a:solidFill>
          <a:ln xmlns:a="http://schemas.openxmlformats.org/drawingml/2006/main" w="11430">
            <a:solidFill>
              <a:srgbClr val="2C4B5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930219-25BA-4FFD-B77F-AAAB5D53A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E0A6"/>
          </a:solidFill>
          <a:ln xmlns:a="http://schemas.openxmlformats.org/drawingml/2006/main" w="0">
            <a:solidFill>
              <a:srgbClr val="3EE0A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CC3760-11D7-4331-B98F-0CC5A4D11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33800"/>
            <a:ext cx="1200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EE0A6"/>
                </a:solidFill>
              </a:defRPr>
            </a:pPr>
            <a:r>
              <a:rPr sz="1425" b="1">
                <a:solidFill>
                  <a:srgbClr val="3EE0A6"/>
                </a:solidFill>
              </a:rPr>
              <a:t>Upload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F75260-F76B-49BA-93CB-DAC754E9A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1200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BF9"/>
                </a:solidFill>
              </a:defRPr>
            </a:pPr>
            <a:r>
              <a:rPr sz="1200" b="0">
                <a:solidFill>
                  <a:srgbClr val="F4FBF9"/>
                </a:solidFill>
              </a:rPr>
              <a:t>Document brut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B3F137-5B9A-4799-8EF6-61DEBD68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848100"/>
            <a:ext cx="209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6BBB8"/>
                </a:solidFill>
              </a:defRPr>
            </a:pPr>
            <a:r>
              <a:rPr sz="1800" b="1">
                <a:solidFill>
                  <a:srgbClr val="A6BBB8"/>
                </a:solidFill>
              </a:rPr>
              <a:t>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AF1370-3704-416B-AAB3-B67E23BE7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524250"/>
            <a:ext cx="16573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2252C"/>
          </a:solidFill>
          <a:ln xmlns:a="http://schemas.openxmlformats.org/drawingml/2006/main" w="11430">
            <a:solidFill>
              <a:srgbClr val="2C4B5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5F1124-1BBA-41B6-90A0-E658CFF86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52425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E0A6"/>
          </a:solidFill>
          <a:ln xmlns:a="http://schemas.openxmlformats.org/drawingml/2006/main" w="0">
            <a:solidFill>
              <a:srgbClr val="3EE0A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B95213-3237-4143-8EC3-B383C8FAD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733800"/>
            <a:ext cx="1200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EE0A6"/>
                </a:solidFill>
              </a:defRPr>
            </a:pPr>
            <a:r>
              <a:rPr sz="1425" b="1">
                <a:solidFill>
                  <a:srgbClr val="3EE0A6"/>
                </a:solidFill>
              </a:rPr>
              <a:t>Detect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7C8194-4F8F-4377-98F0-F17DCEBB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095750"/>
            <a:ext cx="1200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BF9"/>
                </a:solidFill>
              </a:defRPr>
            </a:pPr>
            <a:r>
              <a:rPr sz="1200" b="0">
                <a:solidFill>
                  <a:srgbClr val="F4FBF9"/>
                </a:solidFill>
              </a:rPr>
              <a:t>Controle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A14B2D-1AA7-4AFD-8730-EA7198AE7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848100"/>
            <a:ext cx="209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6BBB8"/>
                </a:solidFill>
              </a:defRPr>
            </a:pPr>
            <a:r>
              <a:rPr sz="1800" b="1">
                <a:solidFill>
                  <a:srgbClr val="A6BBB8"/>
                </a:solidFill>
              </a:rPr>
              <a:t>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4D6E88-26E7-406B-8914-277CFDD5A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524250"/>
            <a:ext cx="16573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2252C"/>
          </a:solidFill>
          <a:ln xmlns:a="http://schemas.openxmlformats.org/drawingml/2006/main" w="11430">
            <a:solidFill>
              <a:srgbClr val="2C4B5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0D587A-485F-43B6-A013-168F28FA5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52425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E0A6"/>
          </a:solidFill>
          <a:ln xmlns:a="http://schemas.openxmlformats.org/drawingml/2006/main" w="0">
            <a:solidFill>
              <a:srgbClr val="3EE0A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06F78F-78F4-46F3-BC3C-5CBAB8549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33800"/>
            <a:ext cx="1200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EE0A6"/>
                </a:solidFill>
              </a:defRPr>
            </a:pPr>
            <a:r>
              <a:rPr sz="1425" b="1">
                <a:solidFill>
                  <a:srgbClr val="3EE0A6"/>
                </a:solidFill>
              </a:rPr>
              <a:t>Anonymize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0CE3EB-A94B-4CCC-B0EB-74EE954C2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95750"/>
            <a:ext cx="1200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BF9"/>
                </a:solidFill>
              </a:defRPr>
            </a:pPr>
            <a:r>
              <a:rPr sz="1200" b="0">
                <a:solidFill>
                  <a:srgbClr val="F4FBF9"/>
                </a:solidFill>
              </a:rPr>
              <a:t>Controle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B5587E-826B-4061-8706-0ED249FE5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848100"/>
            <a:ext cx="209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6BBB8"/>
                </a:solidFill>
              </a:defRPr>
            </a:pPr>
            <a:r>
              <a:rPr sz="1800" b="1">
                <a:solidFill>
                  <a:srgbClr val="A6BBB8"/>
                </a:solidFill>
              </a:rPr>
              <a:t>&gt;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BF1508-0BBD-4B64-B03F-3FCB7165C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524250"/>
            <a:ext cx="16573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2252C"/>
          </a:solidFill>
          <a:ln xmlns:a="http://schemas.openxmlformats.org/drawingml/2006/main" w="11430">
            <a:solidFill>
              <a:srgbClr val="2C4B5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590A53-3427-42B2-872F-E1598F9AF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52425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A8FF"/>
          </a:solidFill>
          <a:ln xmlns:a="http://schemas.openxmlformats.org/drawingml/2006/main" w="0">
            <a:solidFill>
              <a:srgbClr val="74A8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C2264F-E887-468B-B599-B1B0B5525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33800"/>
            <a:ext cx="1200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4A8FF"/>
                </a:solidFill>
              </a:defRPr>
            </a:pPr>
            <a:r>
              <a:rPr sz="1425" b="1">
                <a:solidFill>
                  <a:srgbClr val="74A8FF"/>
                </a:solidFill>
              </a:rPr>
              <a:t>Ask AI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9444B2-5239-4744-ABBF-2848CC32D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95750"/>
            <a:ext cx="1200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BF9"/>
                </a:solidFill>
              </a:defRPr>
            </a:pPr>
            <a:r>
              <a:rPr sz="1200" b="0">
                <a:solidFill>
                  <a:srgbClr val="F4FBF9"/>
                </a:solidFill>
              </a:rPr>
              <a:t>Controle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50C5CA-0CDB-4871-92C4-ECA9D4682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848100"/>
            <a:ext cx="209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6BBB8"/>
                </a:solidFill>
              </a:defRPr>
            </a:pPr>
            <a:r>
              <a:rPr sz="1800" b="1">
                <a:solidFill>
                  <a:srgbClr val="A6BBB8"/>
                </a:solidFill>
              </a:rPr>
              <a:t>&gt;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64D0AA-D918-43F1-88E7-B9D9D0E19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524250"/>
            <a:ext cx="16573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2252C"/>
          </a:solidFill>
          <a:ln xmlns:a="http://schemas.openxmlformats.org/drawingml/2006/main" w="11430">
            <a:solidFill>
              <a:srgbClr val="2C4B5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CC5D60D-94B0-4D1E-8100-6DD32B726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52425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A8FF"/>
          </a:solidFill>
          <a:ln xmlns:a="http://schemas.openxmlformats.org/drawingml/2006/main" w="0">
            <a:solidFill>
              <a:srgbClr val="74A8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AC068A-AEF4-4104-8CB4-563CA34D2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33800"/>
            <a:ext cx="1200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4A8FF"/>
                </a:solidFill>
              </a:defRPr>
            </a:pPr>
            <a:r>
              <a:rPr sz="1425" b="1">
                <a:solidFill>
                  <a:srgbClr val="74A8FF"/>
                </a:solidFill>
              </a:rPr>
              <a:t>Inspect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298BFE0-9F57-476F-852B-C39C7E73C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95750"/>
            <a:ext cx="1200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BF9"/>
                </a:solidFill>
              </a:defRPr>
            </a:pPr>
            <a:r>
              <a:rPr sz="1200" b="0">
                <a:solidFill>
                  <a:srgbClr val="F4FBF9"/>
                </a:solidFill>
              </a:rPr>
              <a:t>Controle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4928105-D928-49A2-98C3-38833E315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848100"/>
            <a:ext cx="209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6BBB8"/>
                </a:solidFill>
              </a:defRPr>
            </a:pPr>
            <a:r>
              <a:rPr sz="1800" b="1">
                <a:solidFill>
                  <a:srgbClr val="A6BBB8"/>
                </a:solidFill>
              </a:rPr>
              <a:t>&gt;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D2E3515-CE48-43D7-A70C-58140EC8C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24250"/>
            <a:ext cx="16573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2252C"/>
          </a:solidFill>
          <a:ln xmlns:a="http://schemas.openxmlformats.org/drawingml/2006/main" w="11430">
            <a:solidFill>
              <a:srgbClr val="2C4B5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BC09E8F-3B33-427C-BFF7-5CC06BDA2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2425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A8FF"/>
          </a:solidFill>
          <a:ln xmlns:a="http://schemas.openxmlformats.org/drawingml/2006/main" w="0">
            <a:solidFill>
              <a:srgbClr val="74A8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91EEE4C-31B6-4303-BAEB-6D58B89B5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733800"/>
            <a:ext cx="1200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4A8FF"/>
                </a:solidFill>
              </a:defRPr>
            </a:pPr>
            <a:r>
              <a:rPr sz="1425" b="1">
                <a:solidFill>
                  <a:srgbClr val="74A8FF"/>
                </a:solidFill>
              </a:rPr>
              <a:t>Prove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8401D66-63CD-48CA-BAF9-62CAAB6BE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095750"/>
            <a:ext cx="1200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5566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BF9"/>
                </a:solidFill>
              </a:defRPr>
            </a:pPr>
            <a:r>
              <a:rPr sz="1200" b="0">
                <a:solidFill>
                  <a:srgbClr val="F4FBF9"/>
                </a:solidFill>
              </a:rPr>
              <a:t>Preuve exploitable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432F170-2043-4E27-ACDE-8BEE75C5E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29200"/>
            <a:ext cx="971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F4FBF9"/>
                </a:solidFill>
              </a:defRPr>
            </a:pPr>
            <a:r>
              <a:rPr sz="1425" b="0">
                <a:solidFill>
                  <a:srgbClr val="F4FBF9"/>
                </a:solidFill>
              </a:rPr>
              <a:t>L'IA ne reçoit que la version sécurisée. Les sorties sont ré-inspectées avant restitution.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43144F1-73CB-4B91-B4B5-F1275B1B1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6BBB8"/>
                </a:solidFill>
              </a:defRPr>
            </a:pPr>
            <a:r>
              <a:rPr sz="900" b="0">
                <a:solidFill>
                  <a:srgbClr val="A6BBB8"/>
                </a:solidFill>
              </a:rPr>
              <a:t>ConfiDoc | Secure AI Chat</a:t>
            </a:r>
          </a:p>
        </p:txBody>
      </p:sp>
    </p:spTree>
    <p:extLst>
      <p:ext uri="{BB962C8B-B14F-4D97-AF65-F5344CB8AC3E}">
        <p14:creationId xmlns:p14="http://schemas.microsoft.com/office/powerpoint/2010/main" val="7852772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5A7A395-C11B-4B66-AB7F-F57A2B42D10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11E412-140F-45C3-AEF1-5F948684F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4"/>
          </a:solidFill>
          <a:ln xmlns:a="http://schemas.openxmlformats.org/drawingml/2006/main" w="0">
            <a:solidFill>
              <a:srgbClr val="07101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74580D-5CDD-447D-896E-F37AA3503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-1714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C43"/>
          </a:solidFill>
          <a:ln xmlns:a="http://schemas.openxmlformats.org/drawingml/2006/main" w="0">
            <a:solidFill>
              <a:srgbClr val="153C4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17C96B-6335-4956-8A9B-146386480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0" y="4476750"/>
            <a:ext cx="4191000" cy="419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D35"/>
          </a:solidFill>
          <a:ln xmlns:a="http://schemas.openxmlformats.org/drawingml/2006/main" w="0">
            <a:solidFill>
              <a:srgbClr val="102D3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B63324-0CB4-45CF-B20D-1839E7662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3">
              <a:alpha val="80000"/>
            </a:srgbClr>
          </a:solidFill>
          <a:ln xmlns:a="http://schemas.openxmlformats.org/drawingml/2006/main" w="0">
            <a:solidFill>
              <a:srgbClr val="061013">
                <a:alpha val="80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798882-07C9-40E3-95F3-92A1A7FA1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EE0A6"/>
                </a:solidFill>
              </a:defRPr>
            </a:pPr>
            <a:r>
              <a:rPr sz="975" b="1">
                <a:solidFill>
                  <a:srgbClr val="3EE0A6"/>
                </a:solidFill>
              </a:rPr>
              <a:t>PRODUIT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1A9B46-EE42-4094-9D58-0D8F28697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3850"/>
            <a:ext cx="1000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6BBB8"/>
                </a:solidFill>
              </a:defRPr>
            </a:pPr>
            <a:r>
              <a:rPr sz="975" b="1">
                <a:solidFill>
                  <a:srgbClr val="A6BBB8"/>
                </a:solidFill>
              </a:rPr>
              <a:t>05 / 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4598A3-52AA-4478-947B-5A3AAA0B7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"/>
            <a:ext cx="10991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4B55"/>
          </a:solidFill>
          <a:ln xmlns:a="http://schemas.openxmlformats.org/drawingml/2006/main" w="0">
            <a:solidFill>
              <a:srgbClr val="2C4B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690E7F-03BB-45C6-A543-FCAC4555F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7239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4FBF9"/>
                </a:solidFill>
              </a:defRPr>
            </a:pPr>
            <a:r>
              <a:rPr sz="3000" b="1">
                <a:solidFill>
                  <a:srgbClr val="F4FBF9"/>
                </a:solidFill>
              </a:rPr>
              <a:t>Trois modules simples à vendre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88E195-F33C-4CD7-82A5-5E876C7F4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7429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6BBB8"/>
                </a:solidFill>
              </a:defRPr>
            </a:pPr>
            <a:r>
              <a:rPr sz="1350" b="0">
                <a:solidFill>
                  <a:srgbClr val="A6BBB8"/>
                </a:solidFill>
              </a:rPr>
              <a:t>Un message commercial lisible, extensible ensuite vers les agents IA.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B1BF36-DE20-4F79-95EB-A012793B1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71850"/>
            <a:ext cx="3238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2252C"/>
          </a:solidFill>
          <a:ln xmlns:a="http://schemas.openxmlformats.org/drawingml/2006/main" w="11430">
            <a:solidFill>
              <a:srgbClr val="2C4B5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9827D1-0C80-4588-B9FA-8EDE37DA5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71850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E0A6"/>
          </a:solidFill>
          <a:ln xmlns:a="http://schemas.openxmlformats.org/drawingml/2006/main" w="0">
            <a:solidFill>
              <a:srgbClr val="3EE0A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DA40B1-9698-4C68-8001-B49090445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81400"/>
            <a:ext cx="2781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EE0A6"/>
                </a:solidFill>
              </a:defRPr>
            </a:pPr>
            <a:r>
              <a:rPr sz="1425" b="1">
                <a:solidFill>
                  <a:srgbClr val="3EE0A6"/>
                </a:solidFill>
              </a:rPr>
              <a:t>Anonymize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CEB19E-2707-485F-9A83-BCFB20761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43350"/>
            <a:ext cx="2781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BF9"/>
                </a:solidFill>
              </a:defRPr>
            </a:pPr>
            <a:r>
              <a:rPr sz="1200" b="0">
                <a:solidFill>
                  <a:srgbClr val="F4FBF9"/>
                </a:solidFill>
              </a:rPr>
              <a:t>Détection, masquage, pseudonymisation et score de risque.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6BA522-24A3-400A-B35F-469557FBD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371850"/>
            <a:ext cx="3238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2252C"/>
          </a:solidFill>
          <a:ln xmlns:a="http://schemas.openxmlformats.org/drawingml/2006/main" w="11430">
            <a:solidFill>
              <a:srgbClr val="2C4B5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A75103-0BC1-4767-88EC-51DD4EA70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371850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A8FF"/>
          </a:solidFill>
          <a:ln xmlns:a="http://schemas.openxmlformats.org/drawingml/2006/main" w="0">
            <a:solidFill>
              <a:srgbClr val="74A8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42F428-ADF6-43F1-B641-7D4839FF3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81400"/>
            <a:ext cx="2781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4A8FF"/>
                </a:solidFill>
              </a:defRPr>
            </a:pPr>
            <a:r>
              <a:rPr sz="1425" b="1">
                <a:solidFill>
                  <a:srgbClr val="74A8FF"/>
                </a:solidFill>
              </a:rPr>
              <a:t>Ask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17CD91-A746-40F0-9FB6-07B6B739E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43350"/>
            <a:ext cx="2781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BF9"/>
                </a:solidFill>
              </a:defRPr>
            </a:pPr>
            <a:r>
              <a:rPr sz="1200" b="0">
                <a:solidFill>
                  <a:srgbClr val="F4FBF9"/>
                </a:solidFill>
              </a:rPr>
              <a:t>Chat IA avec citations uniquement sur la version sécurisée.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828946-4953-4000-9D65-E05CC4014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371850"/>
            <a:ext cx="3238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2252C"/>
          </a:solidFill>
          <a:ln xmlns:a="http://schemas.openxmlformats.org/drawingml/2006/main" w="11430">
            <a:solidFill>
              <a:srgbClr val="2C4B5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3ADFBC-5BC9-42CD-8460-0533F8FCD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371850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E5E"/>
          </a:solidFill>
          <a:ln xmlns:a="http://schemas.openxmlformats.org/drawingml/2006/main" w="0">
            <a:solidFill>
              <a:srgbClr val="F4BE5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180CA9-7426-4B1D-BD70-7997BF503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581400"/>
            <a:ext cx="2781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BE5E"/>
                </a:solidFill>
              </a:defRPr>
            </a:pPr>
            <a:r>
              <a:rPr sz="1425" b="1">
                <a:solidFill>
                  <a:srgbClr val="F4BE5E"/>
                </a:solidFill>
              </a:rPr>
              <a:t>Prove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1CE7DA-F5ED-46F5-A746-C24B77EE8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943350"/>
            <a:ext cx="2781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BF9"/>
                </a:solidFill>
              </a:defRPr>
            </a:pPr>
            <a:r>
              <a:rPr sz="1200" b="0">
                <a:solidFill>
                  <a:srgbClr val="F4FBF9"/>
                </a:solidFill>
              </a:rPr>
              <a:t>Audit trail, preuve d'exposition IA et rapport DPO/RSSI.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7CE3DB-98B6-4295-B883-F4F4FEFC7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6BBB8"/>
                </a:solidFill>
              </a:defRPr>
            </a:pPr>
            <a:r>
              <a:rPr sz="900" b="0">
                <a:solidFill>
                  <a:srgbClr val="A6BBB8"/>
                </a:solidFill>
              </a:rPr>
              <a:t>ConfiDoc | Secure AI Chat</a:t>
            </a:r>
          </a:p>
        </p:txBody>
      </p:sp>
    </p:spTree>
    <p:extLst>
      <p:ext uri="{BB962C8B-B14F-4D97-AF65-F5344CB8AC3E}">
        <p14:creationId xmlns:p14="http://schemas.microsoft.com/office/powerpoint/2010/main" val="6445417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5A7A395-C11B-4B66-AB7F-F57A2B42D10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1B4BB7-85C1-447F-84AC-E12C6D7CC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4"/>
          </a:solidFill>
          <a:ln xmlns:a="http://schemas.openxmlformats.org/drawingml/2006/main" w="0">
            <a:solidFill>
              <a:srgbClr val="07101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882E53-6CB5-416B-8A80-C4F656C70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-1714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C43"/>
          </a:solidFill>
          <a:ln xmlns:a="http://schemas.openxmlformats.org/drawingml/2006/main" w="0">
            <a:solidFill>
              <a:srgbClr val="153C4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9D0300-678D-4895-8841-D9DE81165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0" y="4476750"/>
            <a:ext cx="4191000" cy="419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D35"/>
          </a:solidFill>
          <a:ln xmlns:a="http://schemas.openxmlformats.org/drawingml/2006/main" w="0">
            <a:solidFill>
              <a:srgbClr val="102D3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30729E-7728-4C22-852B-F24F37CB1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3">
              <a:alpha val="80000"/>
            </a:srgbClr>
          </a:solidFill>
          <a:ln xmlns:a="http://schemas.openxmlformats.org/drawingml/2006/main" w="0">
            <a:solidFill>
              <a:srgbClr val="061013">
                <a:alpha val="80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BA7CD7-616C-4C90-9760-103932C29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EE0A6"/>
                </a:solidFill>
              </a:defRPr>
            </a:pPr>
            <a:r>
              <a:rPr sz="975" b="1">
                <a:solidFill>
                  <a:srgbClr val="3EE0A6"/>
                </a:solidFill>
              </a:rPr>
              <a:t>DEMO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01316A-CE64-4E50-AD28-1DE9D3C22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3850"/>
            <a:ext cx="1000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6BBB8"/>
                </a:solidFill>
              </a:defRPr>
            </a:pPr>
            <a:r>
              <a:rPr sz="975" b="1">
                <a:solidFill>
                  <a:srgbClr val="A6BBB8"/>
                </a:solidFill>
              </a:rPr>
              <a:t>06 / 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1A6EC1-4A93-4668-9F0F-505EF3E4C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"/>
            <a:ext cx="10991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4B55"/>
          </a:solidFill>
          <a:ln xmlns:a="http://schemas.openxmlformats.org/drawingml/2006/main" w="0">
            <a:solidFill>
              <a:srgbClr val="2C4B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A7D728-9C39-4512-8B36-4814C7616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7239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4FBF9"/>
                </a:solidFill>
              </a:defRPr>
            </a:pPr>
            <a:r>
              <a:rPr sz="3000" b="1">
                <a:solidFill>
                  <a:srgbClr val="F4FBF9"/>
                </a:solidFill>
              </a:rPr>
              <a:t>La démo investisseur tient en 7 minutes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CE99D0-662B-4062-BFC9-AAF7D23BA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7429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6BBB8"/>
                </a:solidFill>
              </a:defRPr>
            </a:pPr>
            <a:r>
              <a:rPr sz="1350" b="0">
                <a:solidFill>
                  <a:srgbClr val="A6BBB8"/>
                </a:solidFill>
              </a:rPr>
              <a:t>Un document sensible devient exploitable par IA sans exposition du brut.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787FB3-0FCF-4794-BFB5-418831666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95750"/>
            <a:ext cx="1000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4B55"/>
          </a:solidFill>
          <a:ln xmlns:a="http://schemas.openxmlformats.org/drawingml/2006/main" w="0">
            <a:solidFill>
              <a:srgbClr val="2C4B5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CDBF19-19C6-4499-AA3D-7D9829681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909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E0A6"/>
          </a:solidFill>
          <a:ln xmlns:a="http://schemas.openxmlformats.org/drawingml/2006/main" w="19050">
            <a:solidFill>
              <a:srgbClr val="0710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48C621-90C9-433E-9F6F-FD1042E74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400550"/>
            <a:ext cx="1447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4FBF9"/>
                </a:solidFill>
              </a:defRPr>
            </a:pPr>
            <a:r>
              <a:rPr sz="1125" b="0">
                <a:solidFill>
                  <a:srgbClr val="F4FBF9"/>
                </a:solidFill>
              </a:rPr>
              <a:t>Document brut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0004B2-6113-47E1-9330-A4FAEEAA7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9909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E0A6"/>
          </a:solidFill>
          <a:ln xmlns:a="http://schemas.openxmlformats.org/drawingml/2006/main" w="19050">
            <a:solidFill>
              <a:srgbClr val="07101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AE3002-BF06-4A68-8787-2BA44878D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400550"/>
            <a:ext cx="1447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4FBF9"/>
                </a:solidFill>
              </a:defRPr>
            </a:pPr>
            <a:r>
              <a:rPr sz="1125" b="0">
                <a:solidFill>
                  <a:srgbClr val="F4FBF9"/>
                </a:solidFill>
              </a:rPr>
              <a:t>Version IA-safe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783336-0F94-46DC-8071-6F48FD237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909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A8FF"/>
          </a:solidFill>
          <a:ln xmlns:a="http://schemas.openxmlformats.org/drawingml/2006/main" w="19050">
            <a:solidFill>
              <a:srgbClr val="07101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77E159-AEB4-4762-ABDA-1DF8C8DF9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400550"/>
            <a:ext cx="1447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4FBF9"/>
                </a:solidFill>
              </a:defRPr>
            </a:pPr>
            <a:r>
              <a:rPr sz="1125" b="0">
                <a:solidFill>
                  <a:srgbClr val="F4FBF9"/>
                </a:solidFill>
              </a:rPr>
              <a:t>Question IA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831582-D2AD-4831-91A1-B86265D72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9909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A8FF"/>
          </a:solidFill>
          <a:ln xmlns:a="http://schemas.openxmlformats.org/drawingml/2006/main" w="19050">
            <a:solidFill>
              <a:srgbClr val="0710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488526-6BF3-4213-84E1-5EBA8F7EA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00550"/>
            <a:ext cx="1447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4FBF9"/>
                </a:solidFill>
              </a:defRPr>
            </a:pPr>
            <a:r>
              <a:rPr sz="1125" b="0">
                <a:solidFill>
                  <a:srgbClr val="F4FBF9"/>
                </a:solidFill>
              </a:rPr>
              <a:t>Réponse utile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FFC438-D141-4207-B263-3B8D0677F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9909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E5E"/>
          </a:solidFill>
          <a:ln xmlns:a="http://schemas.openxmlformats.org/drawingml/2006/main" w="19050">
            <a:solidFill>
              <a:srgbClr val="0710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81ADC5-BCFE-4D5D-BFED-CAE714A74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400550"/>
            <a:ext cx="1447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4FBF9"/>
                </a:solidFill>
              </a:defRPr>
            </a:pPr>
            <a:r>
              <a:rPr sz="1125" b="0">
                <a:solidFill>
                  <a:srgbClr val="F4FBF9"/>
                </a:solidFill>
              </a:rPr>
              <a:t>Fuite bloquée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FA705D-F224-482A-BE61-DFE6506DA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9909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E5E"/>
          </a:solidFill>
          <a:ln xmlns:a="http://schemas.openxmlformats.org/drawingml/2006/main" w="19050">
            <a:solidFill>
              <a:srgbClr val="0710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89FA56-2DFA-472D-9798-4C89BF326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4400550"/>
            <a:ext cx="1447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4FBF9"/>
                </a:solidFill>
              </a:defRPr>
            </a:pPr>
            <a:r>
              <a:rPr sz="1125" b="0">
                <a:solidFill>
                  <a:srgbClr val="F4FBF9"/>
                </a:solidFill>
              </a:rPr>
              <a:t>Audit exporté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88BA3E-6120-4BE5-BBC4-B257F6FDC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43500"/>
            <a:ext cx="952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A6BBB8"/>
                </a:solidFill>
              </a:defRPr>
            </a:pPr>
            <a:r>
              <a:rPr sz="1500" b="0">
                <a:solidFill>
                  <a:srgbClr val="A6BBB8"/>
                </a:solidFill>
              </a:rPr>
              <a:t>La démo doit être répétable, visuelle et centrée sur la preuve : anonymiser, questionner, auditer.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ABE0B8-CB2C-4688-BD4B-F2B0DA7AC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6BBB8"/>
                </a:solidFill>
              </a:defRPr>
            </a:pPr>
            <a:r>
              <a:rPr sz="900" b="0">
                <a:solidFill>
                  <a:srgbClr val="A6BBB8"/>
                </a:solidFill>
              </a:rPr>
              <a:t>ConfiDoc | Secure AI Chat</a:t>
            </a:r>
          </a:p>
        </p:txBody>
      </p:sp>
    </p:spTree>
    <p:extLst>
      <p:ext uri="{BB962C8B-B14F-4D97-AF65-F5344CB8AC3E}">
        <p14:creationId xmlns:p14="http://schemas.microsoft.com/office/powerpoint/2010/main" val="4388802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5A7A395-C11B-4B66-AB7F-F57A2B42D10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BF68DF-17DE-49F9-BF12-595BAAEAD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4"/>
          </a:solidFill>
          <a:ln xmlns:a="http://schemas.openxmlformats.org/drawingml/2006/main" w="0">
            <a:solidFill>
              <a:srgbClr val="07101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23CFE6-9CE2-474B-B1CE-16AC824F2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-1714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C43"/>
          </a:solidFill>
          <a:ln xmlns:a="http://schemas.openxmlformats.org/drawingml/2006/main" w="0">
            <a:solidFill>
              <a:srgbClr val="153C4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0CDD93-8720-4CA5-B073-9B8986CAB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0" y="4476750"/>
            <a:ext cx="4191000" cy="419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D35"/>
          </a:solidFill>
          <a:ln xmlns:a="http://schemas.openxmlformats.org/drawingml/2006/main" w="0">
            <a:solidFill>
              <a:srgbClr val="102D3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1D6F6A-23E6-4FAC-BA14-E8B5E92D8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3">
              <a:alpha val="80000"/>
            </a:srgbClr>
          </a:solidFill>
          <a:ln xmlns:a="http://schemas.openxmlformats.org/drawingml/2006/main" w="0">
            <a:solidFill>
              <a:srgbClr val="061013">
                <a:alpha val="80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FD024B-95D1-41E1-97AD-2576CBBC6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EE0A6"/>
                </a:solidFill>
              </a:defRPr>
            </a:pPr>
            <a:r>
              <a:rPr sz="975" b="1">
                <a:solidFill>
                  <a:srgbClr val="3EE0A6"/>
                </a:solidFill>
              </a:rPr>
              <a:t>DÉJÀ CONSTRUIT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919760-FE39-4662-89F7-26651015D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3850"/>
            <a:ext cx="1000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6BBB8"/>
                </a:solidFill>
              </a:defRPr>
            </a:pPr>
            <a:r>
              <a:rPr sz="975" b="1">
                <a:solidFill>
                  <a:srgbClr val="A6BBB8"/>
                </a:solidFill>
              </a:rPr>
              <a:t>07 / 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947025-4B4C-4CC2-8ECC-2A08A47C5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"/>
            <a:ext cx="10991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4B55"/>
          </a:solidFill>
          <a:ln xmlns:a="http://schemas.openxmlformats.org/drawingml/2006/main" w="0">
            <a:solidFill>
              <a:srgbClr val="2C4B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299931-A0D1-4060-BA51-225D30B96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7239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4FBF9"/>
                </a:solidFill>
              </a:defRPr>
            </a:pPr>
            <a:r>
              <a:rPr sz="3000" b="1">
                <a:solidFill>
                  <a:srgbClr val="F4FBF9"/>
                </a:solidFill>
              </a:rPr>
              <a:t>Ce n'est pas du slideware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420A4C-E165-4562-AF23-10D47268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7429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6BBB8"/>
                </a:solidFill>
              </a:defRPr>
            </a:pPr>
            <a:r>
              <a:rPr sz="1350" b="0">
                <a:solidFill>
                  <a:srgbClr val="A6BBB8"/>
                </a:solidFill>
              </a:rPr>
              <a:t>Le socle technique existe deja dans ConfiDoc.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F8CAB2-557B-47CB-B03C-E8BD786A6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71850"/>
            <a:ext cx="3238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2252C"/>
          </a:solidFill>
          <a:ln xmlns:a="http://schemas.openxmlformats.org/drawingml/2006/main" w="11430">
            <a:solidFill>
              <a:srgbClr val="2C4B5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B9952D-C907-4ECF-A11D-293D39F7A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71850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E0A6"/>
          </a:solidFill>
          <a:ln xmlns:a="http://schemas.openxmlformats.org/drawingml/2006/main" w="0">
            <a:solidFill>
              <a:srgbClr val="3EE0A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526851-7700-40E1-ABBA-97A6D3F1C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81400"/>
            <a:ext cx="2781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EE0A6"/>
                </a:solidFill>
              </a:defRPr>
            </a:pPr>
            <a:r>
              <a:rPr sz="1425" b="1">
                <a:solidFill>
                  <a:srgbClr val="3EE0A6"/>
                </a:solidFill>
              </a:rPr>
              <a:t>Pipeline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F54816-CBD5-49F9-8253-390FEC9D6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43350"/>
            <a:ext cx="2781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BF9"/>
                </a:solidFill>
              </a:defRPr>
            </a:pPr>
            <a:r>
              <a:rPr sz="1200" b="0">
                <a:solidFill>
                  <a:srgbClr val="F4FBF9"/>
                </a:solidFill>
              </a:rPr>
              <a:t>Upload, OCR/extraction, anonymisation, scoring et audit.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E30AA4-6F34-4464-ABC9-788AC799C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371850"/>
            <a:ext cx="3238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2252C"/>
          </a:solidFill>
          <a:ln xmlns:a="http://schemas.openxmlformats.org/drawingml/2006/main" w="11430">
            <a:solidFill>
              <a:srgbClr val="2C4B5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4B30AF-5763-470E-BD30-15054A65D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371850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A8FF"/>
          </a:solidFill>
          <a:ln xmlns:a="http://schemas.openxmlformats.org/drawingml/2006/main" w="0">
            <a:solidFill>
              <a:srgbClr val="74A8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5F17A3-D4BF-423B-AD03-42A58EA38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81400"/>
            <a:ext cx="2781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4A8FF"/>
                </a:solidFill>
              </a:defRPr>
            </a:pPr>
            <a:r>
              <a:rPr sz="1425" b="1">
                <a:solidFill>
                  <a:srgbClr val="74A8FF"/>
                </a:solidFill>
              </a:rPr>
              <a:t>Sécurité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EB4063-2B97-46C1-BF75-8AC779B85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43350"/>
            <a:ext cx="2781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BF9"/>
                </a:solidFill>
              </a:defRPr>
            </a:pPr>
            <a:r>
              <a:rPr sz="1200" b="0">
                <a:solidFill>
                  <a:srgbClr val="F4FBF9"/>
                </a:solidFill>
              </a:rPr>
              <a:t>RBAC/RLS, health/readiness/version, modes IA externe et client sensible.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8A354C-C0F1-4986-90BB-F59BFFDE0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371850"/>
            <a:ext cx="3238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2252C"/>
          </a:solidFill>
          <a:ln xmlns:a="http://schemas.openxmlformats.org/drawingml/2006/main" w="11430">
            <a:solidFill>
              <a:srgbClr val="2C4B5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D67750-AECC-4478-B305-A820A1C90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371850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E5E"/>
          </a:solidFill>
          <a:ln xmlns:a="http://schemas.openxmlformats.org/drawingml/2006/main" w="0">
            <a:solidFill>
              <a:srgbClr val="F4BE5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2768A2-AADC-49B5-BD12-5834744BF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581400"/>
            <a:ext cx="2781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BE5E"/>
                </a:solidFill>
              </a:defRPr>
            </a:pPr>
            <a:r>
              <a:rPr sz="1425" b="1">
                <a:solidFill>
                  <a:srgbClr val="F4BE5E"/>
                </a:solidFill>
              </a:rPr>
              <a:t>Démo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B80471-A7D8-4BA7-B1C7-A121C5E31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943350"/>
            <a:ext cx="2781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BF9"/>
                </a:solidFill>
              </a:defRPr>
            </a:pPr>
            <a:r>
              <a:rPr sz="1200" b="0">
                <a:solidFill>
                  <a:srgbClr val="F4FBF9"/>
                </a:solidFill>
              </a:rPr>
              <a:t>Dashboard DPO/RSSI public et parcours produit déjà déployé.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3AEDC5-5866-4EB5-A4A8-8827034E6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6BBB8"/>
                </a:solidFill>
              </a:defRPr>
            </a:pPr>
            <a:r>
              <a:rPr sz="900" b="0">
                <a:solidFill>
                  <a:srgbClr val="A6BBB8"/>
                </a:solidFill>
              </a:rPr>
              <a:t>ConfiDoc | Secure AI Chat</a:t>
            </a:r>
          </a:p>
        </p:txBody>
      </p:sp>
    </p:spTree>
    <p:extLst>
      <p:ext uri="{BB962C8B-B14F-4D97-AF65-F5344CB8AC3E}">
        <p14:creationId xmlns:p14="http://schemas.microsoft.com/office/powerpoint/2010/main" val="73436907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5A7A395-C11B-4B66-AB7F-F57A2B42D10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04836B-CBDE-4323-97F2-D1836778B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4"/>
          </a:solidFill>
          <a:ln xmlns:a="http://schemas.openxmlformats.org/drawingml/2006/main" w="0">
            <a:solidFill>
              <a:srgbClr val="07101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503598-12F2-4714-AE96-3A2E4A4A9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-1714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C43"/>
          </a:solidFill>
          <a:ln xmlns:a="http://schemas.openxmlformats.org/drawingml/2006/main" w="0">
            <a:solidFill>
              <a:srgbClr val="153C4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F1A07B-CB71-4A62-9858-FF0195D3C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0" y="4476750"/>
            <a:ext cx="4191000" cy="419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D35"/>
          </a:solidFill>
          <a:ln xmlns:a="http://schemas.openxmlformats.org/drawingml/2006/main" w="0">
            <a:solidFill>
              <a:srgbClr val="102D3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206AE8-7AA9-4EC0-9D63-7593DCB94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3">
              <a:alpha val="80000"/>
            </a:srgbClr>
          </a:solidFill>
          <a:ln xmlns:a="http://schemas.openxmlformats.org/drawingml/2006/main" w="0">
            <a:solidFill>
              <a:srgbClr val="061013">
                <a:alpha val="80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AADEA0-E80E-4D00-B848-6430AEE03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EE0A6"/>
                </a:solidFill>
              </a:defRPr>
            </a:pPr>
            <a:r>
              <a:rPr sz="975" b="1">
                <a:solidFill>
                  <a:srgbClr val="3EE0A6"/>
                </a:solidFill>
              </a:rPr>
              <a:t>MARCHÉ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4EADA8-C19A-4267-B019-74B71232D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3850"/>
            <a:ext cx="1000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6BBB8"/>
                </a:solidFill>
              </a:defRPr>
            </a:pPr>
            <a:r>
              <a:rPr sz="975" b="1">
                <a:solidFill>
                  <a:srgbClr val="A6BBB8"/>
                </a:solidFill>
              </a:rPr>
              <a:t>08 / 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03AA16-9716-4FE7-85B7-CD0679E09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"/>
            <a:ext cx="10991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4B55"/>
          </a:solidFill>
          <a:ln xmlns:a="http://schemas.openxmlformats.org/drawingml/2006/main" w="0">
            <a:solidFill>
              <a:srgbClr val="2C4B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C797A7-CDE6-4BEB-B997-CE27A98BD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7239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4FBF9"/>
                </a:solidFill>
              </a:defRPr>
            </a:pPr>
            <a:r>
              <a:rPr sz="3000" b="1">
                <a:solidFill>
                  <a:srgbClr val="F4FBF9"/>
                </a:solidFill>
              </a:rPr>
              <a:t>Wedge et expansion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E34A60-7140-4A40-8727-DAD76716F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7429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6BBB8"/>
                </a:solidFill>
              </a:defRPr>
            </a:pPr>
            <a:r>
              <a:rPr sz="1350" b="0">
                <a:solidFill>
                  <a:srgbClr val="A6BBB8"/>
                </a:solidFill>
              </a:rPr>
              <a:t>Commencer où la douleur est immédiate, puis monter vers l'Agent Firewall.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FBA74F-BB7B-4C95-90A4-8472A4C7D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3048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2252C"/>
          </a:solidFill>
          <a:ln xmlns:a="http://schemas.openxmlformats.org/drawingml/2006/main" w="19050">
            <a:solidFill>
              <a:srgbClr val="3EE0A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CC933D-D06E-4938-A683-CB29DE4E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76550"/>
            <a:ext cx="3048000" cy="2533650"/>
          </a:xfrm>
          <a:prstGeom xmlns:a="http://schemas.openxmlformats.org/drawingml/2006/main" prst="roundRect">
            <a:avLst>
              <a:gd name="adj" fmla="val 3008"/>
            </a:avLst>
          </a:prstGeom>
          <a:solidFill xmlns:a="http://schemas.openxmlformats.org/drawingml/2006/main">
            <a:srgbClr val="12252C"/>
          </a:solidFill>
          <a:ln xmlns:a="http://schemas.openxmlformats.org/drawingml/2006/main" w="19050">
            <a:solidFill>
              <a:srgbClr val="74A8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2EBC50-66D8-45B3-A887-D60915018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71750"/>
            <a:ext cx="3048000" cy="314325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12252C"/>
          </a:solidFill>
          <a:ln xmlns:a="http://schemas.openxmlformats.org/drawingml/2006/main" w="19050">
            <a:solidFill>
              <a:srgbClr val="F4BE5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6FD633-FF40-484B-93FD-A93DA3C05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7185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EE0A6"/>
                </a:solidFill>
              </a:defRPr>
            </a:pPr>
            <a:r>
              <a:rPr sz="1725" b="1">
                <a:solidFill>
                  <a:srgbClr val="3EE0A6"/>
                </a:solidFill>
              </a:rPr>
              <a:t>Wedge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7EAB10-29DB-40D7-BCD4-0C9D1F1A4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48100"/>
            <a:ext cx="2476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BF9"/>
                </a:solidFill>
              </a:defRPr>
            </a:pPr>
            <a:r>
              <a:rPr sz="1200" b="0">
                <a:solidFill>
                  <a:srgbClr val="F4FBF9"/>
                </a:solidFill>
              </a:rPr>
              <a:t>Cabinets comptables, DAF externalises, avocats, assurance, fintech, compliance.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AF1449-33E4-45BC-9CC6-72D54EB58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10515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4A8FF"/>
                </a:solidFill>
              </a:defRPr>
            </a:pPr>
            <a:r>
              <a:rPr sz="1725" b="1">
                <a:solidFill>
                  <a:srgbClr val="74A8FF"/>
                </a:solidFill>
              </a:rPr>
              <a:t>Expansion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4A05BD-2824-4974-A1B4-82DAC0FCA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581400"/>
            <a:ext cx="2476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BF9"/>
                </a:solidFill>
              </a:defRPr>
            </a:pPr>
            <a:r>
              <a:rPr sz="1200" b="0">
                <a:solidFill>
                  <a:srgbClr val="F4FBF9"/>
                </a:solidFill>
              </a:rPr>
              <a:t>Gateway de sécurité pour agents IA sur documents, outils et bases internes.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4E6D7D-7410-4C09-80A4-102550339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0035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BE5E"/>
                </a:solidFill>
              </a:defRPr>
            </a:pPr>
            <a:r>
              <a:rPr sz="1725" b="1">
                <a:solidFill>
                  <a:srgbClr val="F4BE5E"/>
                </a:solidFill>
              </a:rPr>
              <a:t>Vision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89310A-EED1-47CA-9E3B-48174997C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276600"/>
            <a:ext cx="2476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BF9"/>
                </a:solidFill>
              </a:defRPr>
            </a:pPr>
            <a:r>
              <a:rPr sz="1200" b="0">
                <a:solidFill>
                  <a:srgbClr val="F4FBF9"/>
                </a:solidFill>
              </a:rPr>
              <a:t>La couche de confiance européenne pour workflows IA sensibles.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93A705-CCA9-4AA5-A0EB-A6466473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6BBB8"/>
                </a:solidFill>
              </a:defRPr>
            </a:pPr>
            <a:r>
              <a:rPr sz="900" b="0">
                <a:solidFill>
                  <a:srgbClr val="A6BBB8"/>
                </a:solidFill>
              </a:rPr>
              <a:t>ConfiDoc | Secure AI Chat</a:t>
            </a:r>
          </a:p>
        </p:txBody>
      </p:sp>
    </p:spTree>
    <p:extLst>
      <p:ext uri="{BB962C8B-B14F-4D97-AF65-F5344CB8AC3E}">
        <p14:creationId xmlns:p14="http://schemas.microsoft.com/office/powerpoint/2010/main" val="176491844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5A7A395-C11B-4B66-AB7F-F57A2B42D10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662D8F-55DB-4F42-B71B-13003A64F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4"/>
          </a:solidFill>
          <a:ln xmlns:a="http://schemas.openxmlformats.org/drawingml/2006/main" w="0">
            <a:solidFill>
              <a:srgbClr val="07101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7EF8B5-9F11-4362-8B35-032B57D63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-1714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C43"/>
          </a:solidFill>
          <a:ln xmlns:a="http://schemas.openxmlformats.org/drawingml/2006/main" w="0">
            <a:solidFill>
              <a:srgbClr val="153C4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E13058-7F72-47ED-8623-145442B1E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0" y="4476750"/>
            <a:ext cx="4191000" cy="419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D35"/>
          </a:solidFill>
          <a:ln xmlns:a="http://schemas.openxmlformats.org/drawingml/2006/main" w="0">
            <a:solidFill>
              <a:srgbClr val="102D3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F6CC90-3778-4FCD-993F-2149FD3DD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3">
              <a:alpha val="80000"/>
            </a:srgbClr>
          </a:solidFill>
          <a:ln xmlns:a="http://schemas.openxmlformats.org/drawingml/2006/main" w="0">
            <a:solidFill>
              <a:srgbClr val="061013">
                <a:alpha val="80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CAC05A-57E0-4BFE-AF07-0EF4BFDFC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EE0A6"/>
                </a:solidFill>
              </a:defRPr>
            </a:pPr>
            <a:r>
              <a:rPr sz="975" b="1">
                <a:solidFill>
                  <a:srgbClr val="3EE0A6"/>
                </a:solidFill>
              </a:rPr>
              <a:t>BUSINESS MODEL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851AA3-9CC5-4E96-9B23-77BB76FE3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3850"/>
            <a:ext cx="1000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6BBB8"/>
                </a:solidFill>
              </a:defRPr>
            </a:pPr>
            <a:r>
              <a:rPr sz="975" b="1">
                <a:solidFill>
                  <a:srgbClr val="A6BBB8"/>
                </a:solidFill>
              </a:rPr>
              <a:t>09 / 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3B38D1-2E89-4CEC-9EFF-DB74DB7A6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"/>
            <a:ext cx="10991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4B55"/>
          </a:solidFill>
          <a:ln xmlns:a="http://schemas.openxmlformats.org/drawingml/2006/main" w="0">
            <a:solidFill>
              <a:srgbClr val="2C4B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3B699D-E5D8-4A26-A825-C5D45078B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7239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4FBF9"/>
                </a:solidFill>
              </a:defRPr>
            </a:pPr>
            <a:r>
              <a:rPr sz="3000" b="1">
                <a:solidFill>
                  <a:srgbClr val="F4FBF9"/>
                </a:solidFill>
              </a:rPr>
              <a:t>Pilotes payants puis SaaS gouvernance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7983F5-73EF-453C-A1BD-FB0EAC4A5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7429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6BBB8"/>
                </a:solidFill>
              </a:defRPr>
            </a:pPr>
            <a:r>
              <a:rPr sz="1350" b="0">
                <a:solidFill>
                  <a:srgbClr val="A6BBB8"/>
                </a:solidFill>
              </a:rPr>
              <a:t>Le modele doit valider vite l'intention de payer.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909145-E521-4D43-9BE8-78C0D0F8B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81300"/>
            <a:ext cx="30480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7333B"/>
          </a:solidFill>
          <a:ln xmlns:a="http://schemas.openxmlformats.org/drawingml/2006/main" w="11430">
            <a:solidFill>
              <a:srgbClr val="2C4B5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779F4F-94B1-4D33-A9B8-EAB98FF95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52750"/>
            <a:ext cx="2705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3EE0A6"/>
                </a:solidFill>
              </a:defRPr>
            </a:pPr>
            <a:r>
              <a:rPr sz="2475" b="1">
                <a:solidFill>
                  <a:srgbClr val="3EE0A6"/>
                </a:solidFill>
              </a:rPr>
              <a:t>2-5 k€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ACFD6B-0C2E-441D-A430-C7FA167B8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48050"/>
            <a:ext cx="266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6BBB8"/>
                </a:solidFill>
              </a:defRPr>
            </a:pPr>
            <a:r>
              <a:rPr sz="1050" b="0">
                <a:solidFill>
                  <a:srgbClr val="A6BBB8"/>
                </a:solidFill>
              </a:rPr>
              <a:t>setup pilote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FDC28B-3DE1-49BB-93CC-9CF7B9560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81300"/>
            <a:ext cx="30480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7333B"/>
          </a:solidFill>
          <a:ln xmlns:a="http://schemas.openxmlformats.org/drawingml/2006/main" w="11430">
            <a:solidFill>
              <a:srgbClr val="2C4B5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2979EC-2B9C-44CC-9A05-150C8F0B6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952750"/>
            <a:ext cx="2705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74A8FF"/>
                </a:solidFill>
              </a:defRPr>
            </a:pPr>
            <a:r>
              <a:rPr sz="2475" b="1">
                <a:solidFill>
                  <a:srgbClr val="74A8FF"/>
                </a:solidFill>
              </a:rPr>
              <a:t>500-2k€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F768A7-9213-447F-8BD0-091BA7C43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48050"/>
            <a:ext cx="266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6BBB8"/>
                </a:solidFill>
              </a:defRPr>
            </a:pPr>
            <a:r>
              <a:rPr sz="1050" b="0">
                <a:solidFill>
                  <a:srgbClr val="A6BBB8"/>
                </a:solidFill>
              </a:rPr>
              <a:t>MRR pilote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BE935C-7330-4326-A073-E650A27F9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81300"/>
            <a:ext cx="30480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7333B"/>
          </a:solidFill>
          <a:ln xmlns:a="http://schemas.openxmlformats.org/drawingml/2006/main" w="11430">
            <a:solidFill>
              <a:srgbClr val="2C4B5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CAC0EB-7ED7-4122-952C-4D750C931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952750"/>
            <a:ext cx="2705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4BE5E"/>
                </a:solidFill>
              </a:defRPr>
            </a:pPr>
            <a:r>
              <a:rPr sz="2475" b="1">
                <a:solidFill>
                  <a:srgbClr val="F4BE5E"/>
                </a:solidFill>
              </a:rPr>
              <a:t>18 mois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2F155D-D39D-4983-AA3C-6A2F705A5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48050"/>
            <a:ext cx="266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6BBB8"/>
                </a:solidFill>
              </a:defRPr>
            </a:pPr>
            <a:r>
              <a:rPr sz="1050" b="0">
                <a:solidFill>
                  <a:srgbClr val="A6BBB8"/>
                </a:solidFill>
              </a:rPr>
              <a:t>runway vise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244BB8-0A12-45F1-A1F6-A3D7A3E7D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31623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2252C"/>
          </a:solidFill>
          <a:ln xmlns:a="http://schemas.openxmlformats.org/drawingml/2006/main" w="11430">
            <a:solidFill>
              <a:srgbClr val="2C4B5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4A3645-1824-4501-B957-8DB2F855A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6667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E0A6"/>
          </a:solidFill>
          <a:ln xmlns:a="http://schemas.openxmlformats.org/drawingml/2006/main" w="0">
            <a:solidFill>
              <a:srgbClr val="3EE0A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1F0DCA-B662-4699-8540-07C7FBF51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67250"/>
            <a:ext cx="2705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EE0A6"/>
                </a:solidFill>
              </a:defRPr>
            </a:pPr>
            <a:r>
              <a:rPr sz="1425" b="1">
                <a:solidFill>
                  <a:srgbClr val="3EE0A6"/>
                </a:solidFill>
              </a:rPr>
              <a:t>Pilote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6DB471-38A8-4479-B985-B921A522B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29200"/>
            <a:ext cx="2705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BF9"/>
                </a:solidFill>
              </a:defRPr>
            </a:pPr>
            <a:r>
              <a:rPr sz="1200" b="0">
                <a:solidFill>
                  <a:srgbClr val="F4FBF9"/>
                </a:solidFill>
              </a:rPr>
              <a:t>30 jours, 1 équipe, 1 type de document, critères de succès.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CF64A7-86C1-40E5-8BC5-502485456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457700"/>
            <a:ext cx="31623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2252C"/>
          </a:solidFill>
          <a:ln xmlns:a="http://schemas.openxmlformats.org/drawingml/2006/main" w="11430">
            <a:solidFill>
              <a:srgbClr val="2C4B5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371AF9-5986-4F03-8855-078616CC1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457700"/>
            <a:ext cx="6667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A8FF"/>
          </a:solidFill>
          <a:ln xmlns:a="http://schemas.openxmlformats.org/drawingml/2006/main" w="0">
            <a:solidFill>
              <a:srgbClr val="74A8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9E305E-308E-454D-B170-41224D0FB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667250"/>
            <a:ext cx="2705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4A8FF"/>
                </a:solidFill>
              </a:defRPr>
            </a:pPr>
            <a:r>
              <a:rPr sz="1425" b="1">
                <a:solidFill>
                  <a:srgbClr val="74A8FF"/>
                </a:solidFill>
              </a:rPr>
              <a:t>SaaS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BE5F79-9FF4-41AF-8726-7D4C2E3FC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029200"/>
            <a:ext cx="2705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BF9"/>
                </a:solidFill>
              </a:defRPr>
            </a:pPr>
            <a:r>
              <a:rPr sz="1200" b="0">
                <a:solidFill>
                  <a:srgbClr val="F4FBF9"/>
                </a:solidFill>
              </a:rPr>
              <a:t>Par siege + volume de documents + tier gouvernance.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727131-CE2D-4F74-AF99-D96BB28EB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457700"/>
            <a:ext cx="31623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2252C"/>
          </a:solidFill>
          <a:ln xmlns:a="http://schemas.openxmlformats.org/drawingml/2006/main" w="11430">
            <a:solidFill>
              <a:srgbClr val="2C4B5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EA0415-36BC-4CC7-9BE6-7FAABD6C7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457700"/>
            <a:ext cx="6667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E5E"/>
          </a:solidFill>
          <a:ln xmlns:a="http://schemas.openxmlformats.org/drawingml/2006/main" w="0">
            <a:solidFill>
              <a:srgbClr val="F4BE5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342835-58A7-4FF5-8947-8486B4A6F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667250"/>
            <a:ext cx="2705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BE5E"/>
                </a:solidFill>
              </a:defRPr>
            </a:pPr>
            <a:r>
              <a:rPr sz="1425" b="1">
                <a:solidFill>
                  <a:srgbClr val="F4BE5E"/>
                </a:solidFill>
              </a:rPr>
              <a:t>Enterprise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5C0872-D2FA-477B-A910-4249A061F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029200"/>
            <a:ext cx="2705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BF9"/>
                </a:solidFill>
              </a:defRPr>
            </a:pPr>
            <a:r>
              <a:rPr sz="1200" b="0">
                <a:solidFill>
                  <a:srgbClr val="F4FBF9"/>
                </a:solidFill>
              </a:rPr>
              <a:t>SSO, logs longs, mode client sensible, gateway agents/outils.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697C9E6-5422-4ADE-BEB5-570B5786E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6BBB8"/>
                </a:solidFill>
              </a:defRPr>
            </a:pPr>
            <a:r>
              <a:rPr sz="900" b="0">
                <a:solidFill>
                  <a:srgbClr val="A6BBB8"/>
                </a:solidFill>
              </a:rPr>
              <a:t>ConfiDoc | Secure AI Chat</a:t>
            </a:r>
          </a:p>
        </p:txBody>
      </p:sp>
    </p:spTree>
    <p:extLst>
      <p:ext uri="{BB962C8B-B14F-4D97-AF65-F5344CB8AC3E}">
        <p14:creationId xmlns:p14="http://schemas.microsoft.com/office/powerpoint/2010/main" val="5288358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5A7A395-C11B-4B66-AB7F-F57A2B42D10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D47052-7C21-4CE6-860A-CDD310CD6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4"/>
          </a:solidFill>
          <a:ln xmlns:a="http://schemas.openxmlformats.org/drawingml/2006/main" w="0">
            <a:solidFill>
              <a:srgbClr val="07101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FD03AE-7B8F-4C31-99BA-BC4C7E4E1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-1714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C43"/>
          </a:solidFill>
          <a:ln xmlns:a="http://schemas.openxmlformats.org/drawingml/2006/main" w="0">
            <a:solidFill>
              <a:srgbClr val="153C4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2689D9-3BB8-4CB2-BD00-9139776D9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0" y="4476750"/>
            <a:ext cx="4191000" cy="419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D35"/>
          </a:solidFill>
          <a:ln xmlns:a="http://schemas.openxmlformats.org/drawingml/2006/main" w="0">
            <a:solidFill>
              <a:srgbClr val="102D3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ED65F5-4279-4466-B22D-B852DDEB6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3">
              <a:alpha val="80000"/>
            </a:srgbClr>
          </a:solidFill>
          <a:ln xmlns:a="http://schemas.openxmlformats.org/drawingml/2006/main" w="0">
            <a:solidFill>
              <a:srgbClr val="061013">
                <a:alpha val="80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FE553B-1F86-46DD-98EC-FF1BC44A2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EE0A6"/>
                </a:solidFill>
              </a:defRPr>
            </a:pPr>
            <a:r>
              <a:rPr sz="975" b="1">
                <a:solidFill>
                  <a:srgbClr val="3EE0A6"/>
                </a:solidFill>
              </a:rPr>
              <a:t>MOAT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1BA96D-E3F7-4650-AFEB-9DC76684B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3850"/>
            <a:ext cx="1000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6BBB8"/>
                </a:solidFill>
              </a:defRPr>
            </a:pPr>
            <a:r>
              <a:rPr sz="975" b="1">
                <a:solidFill>
                  <a:srgbClr val="A6BBB8"/>
                </a:solidFill>
              </a:rPr>
              <a:t>10 / 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C59A53-9A2B-40CE-8050-4078C3BA8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"/>
            <a:ext cx="10991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4B55"/>
          </a:solidFill>
          <a:ln xmlns:a="http://schemas.openxmlformats.org/drawingml/2006/main" w="0">
            <a:solidFill>
              <a:srgbClr val="2C4B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45682E-AA70-44F3-A245-53CEA1BA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7239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4FBF9"/>
                </a:solidFill>
              </a:defRPr>
            </a:pPr>
            <a:r>
              <a:rPr sz="3000" b="1">
                <a:solidFill>
                  <a:srgbClr val="F4FBF9"/>
                </a:solidFill>
              </a:rPr>
              <a:t>Défendabilité : privacy, data, preuve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C7C0B0-2F05-4314-A4C2-4C10DB363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7429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6BBB8"/>
                </a:solidFill>
              </a:defRPr>
            </a:pPr>
            <a:r>
              <a:rPr sz="1350" b="0">
                <a:solidFill>
                  <a:srgbClr val="A6BBB8"/>
                </a:solidFill>
              </a:rPr>
              <a:t>Ne pas battre Okta/Microsoft sur l'IAM. Gagner sur le contenu documentaire IA.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08419F-F72C-490E-8B2C-2024DF960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71850"/>
            <a:ext cx="3238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2252C"/>
          </a:solidFill>
          <a:ln xmlns:a="http://schemas.openxmlformats.org/drawingml/2006/main" w="11430">
            <a:solidFill>
              <a:srgbClr val="2C4B5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2C3A63-B01E-4E59-BABF-D94409DA3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71850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E0A6"/>
          </a:solidFill>
          <a:ln xmlns:a="http://schemas.openxmlformats.org/drawingml/2006/main" w="0">
            <a:solidFill>
              <a:srgbClr val="3EE0A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4161CB-D9BF-468B-988B-87D51CEFE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81400"/>
            <a:ext cx="2781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EE0A6"/>
                </a:solidFill>
              </a:defRPr>
            </a:pPr>
            <a:r>
              <a:rPr sz="1425" b="1">
                <a:solidFill>
                  <a:srgbClr val="3EE0A6"/>
                </a:solidFill>
              </a:rPr>
              <a:t>Data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B66375-4DBB-4D19-84AE-61C9AF6D3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43350"/>
            <a:ext cx="2781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BF9"/>
                </a:solidFill>
              </a:defRPr>
            </a:pPr>
            <a:r>
              <a:rPr sz="1200" b="0">
                <a:solidFill>
                  <a:srgbClr val="F4FBF9"/>
                </a:solidFill>
              </a:rPr>
              <a:t>Golden sets et corrections humaines sur documents sensibles.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6BF014-5FD3-4B9A-9915-30F6D7D47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371850"/>
            <a:ext cx="3238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2252C"/>
          </a:solidFill>
          <a:ln xmlns:a="http://schemas.openxmlformats.org/drawingml/2006/main" w="11430">
            <a:solidFill>
              <a:srgbClr val="2C4B5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0570FC-27D6-42C8-9890-A9542310A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371850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A8FF"/>
          </a:solidFill>
          <a:ln xmlns:a="http://schemas.openxmlformats.org/drawingml/2006/main" w="0">
            <a:solidFill>
              <a:srgbClr val="74A8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E1F5FB-D6A5-473F-896F-05DEB6765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81400"/>
            <a:ext cx="2781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4A8FF"/>
                </a:solidFill>
              </a:defRPr>
            </a:pPr>
            <a:r>
              <a:rPr sz="1425" b="1">
                <a:solidFill>
                  <a:srgbClr val="74A8FF"/>
                </a:solidFill>
              </a:rPr>
              <a:t>Architecture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40D83A-BC78-4561-96BD-82ECB0E4B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43350"/>
            <a:ext cx="2781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BF9"/>
                </a:solidFill>
              </a:defRPr>
            </a:pPr>
            <a:r>
              <a:rPr sz="1200" b="0">
                <a:solidFill>
                  <a:srgbClr val="F4FBF9"/>
                </a:solidFill>
              </a:rPr>
              <a:t>Privacy-by-design difficile à rajouter après coup.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BC9046-94D2-4492-9370-03275A65A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371850"/>
            <a:ext cx="3238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2252C"/>
          </a:solidFill>
          <a:ln xmlns:a="http://schemas.openxmlformats.org/drawingml/2006/main" w="11430">
            <a:solidFill>
              <a:srgbClr val="2C4B5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3A27F8-3EEA-4C37-A0E8-4F8C3518E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371850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E5E"/>
          </a:solidFill>
          <a:ln xmlns:a="http://schemas.openxmlformats.org/drawingml/2006/main" w="0">
            <a:solidFill>
              <a:srgbClr val="F4BE5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1C0B97-A9E3-4F75-870B-8A57AC807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581400"/>
            <a:ext cx="2781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BE5E"/>
                </a:solidFill>
              </a:defRPr>
            </a:pPr>
            <a:r>
              <a:rPr sz="1425" b="1">
                <a:solidFill>
                  <a:srgbClr val="F4BE5E"/>
                </a:solidFill>
              </a:rPr>
              <a:t>Audit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478E6A-DE22-4B8E-871C-3C57E839C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943350"/>
            <a:ext cx="2781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BF9"/>
                </a:solidFill>
              </a:defRPr>
            </a:pPr>
            <a:r>
              <a:rPr sz="1200" b="0">
                <a:solidFill>
                  <a:srgbClr val="F4FBF9"/>
                </a:solidFill>
              </a:rPr>
              <a:t>Preuve d'exposition IA utile en vente, controle et due diligence.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5D9856-218B-4CBF-A037-09FCEA72B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6BBB8"/>
                </a:solidFill>
              </a:defRPr>
            </a:pPr>
            <a:r>
              <a:rPr sz="900" b="0">
                <a:solidFill>
                  <a:srgbClr val="A6BBB8"/>
                </a:solidFill>
              </a:rPr>
              <a:t>ConfiDoc | Secure AI Chat</a:t>
            </a:r>
          </a:p>
        </p:txBody>
      </p:sp>
    </p:spTree>
    <p:extLst>
      <p:ext uri="{BB962C8B-B14F-4D97-AF65-F5344CB8AC3E}">
        <p14:creationId xmlns:p14="http://schemas.microsoft.com/office/powerpoint/2010/main" val="210439786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5A7A395-C11B-4B66-AB7F-F57A2B42D10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2392C3-609B-470A-A144-24487C294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4"/>
          </a:solidFill>
          <a:ln xmlns:a="http://schemas.openxmlformats.org/drawingml/2006/main" w="0">
            <a:solidFill>
              <a:srgbClr val="07101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3346DB-D634-4F3A-A873-651F0BCA5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-1714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C43"/>
          </a:solidFill>
          <a:ln xmlns:a="http://schemas.openxmlformats.org/drawingml/2006/main" w="0">
            <a:solidFill>
              <a:srgbClr val="153C4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386C9B-C83F-487C-BE56-AA33FACD2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0" y="4476750"/>
            <a:ext cx="4191000" cy="419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D35"/>
          </a:solidFill>
          <a:ln xmlns:a="http://schemas.openxmlformats.org/drawingml/2006/main" w="0">
            <a:solidFill>
              <a:srgbClr val="102D3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4B1731-9403-4B8F-B605-5BC1C0060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3">
              <a:alpha val="80000"/>
            </a:srgbClr>
          </a:solidFill>
          <a:ln xmlns:a="http://schemas.openxmlformats.org/drawingml/2006/main" w="0">
            <a:solidFill>
              <a:srgbClr val="061013">
                <a:alpha val="80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4C7861-C607-43FE-8B34-57BDF389D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EE0A6"/>
                </a:solidFill>
              </a:defRPr>
            </a:pPr>
            <a:r>
              <a:rPr sz="975" b="1">
                <a:solidFill>
                  <a:srgbClr val="3EE0A6"/>
                </a:solidFill>
              </a:rPr>
              <a:t>TRACTION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E4F3F4-0D7A-49F7-B291-E68CBB658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3850"/>
            <a:ext cx="1000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6BBB8"/>
                </a:solidFill>
              </a:defRPr>
            </a:pPr>
            <a:r>
              <a:rPr sz="975" b="1">
                <a:solidFill>
                  <a:srgbClr val="A6BBB8"/>
                </a:solidFill>
              </a:rPr>
              <a:t>11 / 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E77A37-C778-4ADB-93C3-D2F380D0E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"/>
            <a:ext cx="10991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4B55"/>
          </a:solidFill>
          <a:ln xmlns:a="http://schemas.openxmlformats.org/drawingml/2006/main" w="0">
            <a:solidFill>
              <a:srgbClr val="2C4B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97E26E-20BD-48E1-A5C5-07408DA2B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7239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4FBF9"/>
                </a:solidFill>
              </a:defRPr>
            </a:pPr>
            <a:r>
              <a:rPr sz="3000" b="1">
                <a:solidFill>
                  <a:srgbClr val="F4FBF9"/>
                </a:solidFill>
              </a:rPr>
              <a:t>Le slide à remplir avec du réel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314043-232F-4F6C-A615-8CA55F867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7429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6BBB8"/>
                </a:solidFill>
              </a:defRPr>
            </a:pPr>
            <a:r>
              <a:rPr sz="1350" b="0">
                <a:solidFill>
                  <a:srgbClr val="A6BBB8"/>
                </a:solidFill>
              </a:rPr>
              <a:t>Ne rien inventer : transformer les 30 prochains jours en preuves.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FBD0AD-862F-4E48-A1EC-21D440F99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81300"/>
            <a:ext cx="30480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7333B"/>
          </a:solidFill>
          <a:ln xmlns:a="http://schemas.openxmlformats.org/drawingml/2006/main" w="11430">
            <a:solidFill>
              <a:srgbClr val="2C4B5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3D14B9-3C47-443E-81A3-BDB6F9A86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52750"/>
            <a:ext cx="2705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3EE0A6"/>
                </a:solidFill>
              </a:defRPr>
            </a:pPr>
            <a:r>
              <a:rPr sz="2475" b="1">
                <a:solidFill>
                  <a:srgbClr val="3EE0A6"/>
                </a:solidFill>
              </a:rPr>
              <a:t>3-5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E4C222-72BF-420B-B5DC-24637248E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48050"/>
            <a:ext cx="266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6BBB8"/>
                </a:solidFill>
              </a:defRPr>
            </a:pPr>
            <a:r>
              <a:rPr sz="1050" b="0">
                <a:solidFill>
                  <a:srgbClr val="A6BBB8"/>
                </a:solidFill>
              </a:rPr>
              <a:t>pilotes / LOI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50A903-2618-4548-B918-77FF2B5D1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81300"/>
            <a:ext cx="30480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7333B"/>
          </a:solidFill>
          <a:ln xmlns:a="http://schemas.openxmlformats.org/drawingml/2006/main" w="11430">
            <a:solidFill>
              <a:srgbClr val="2C4B5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19A760-69F6-46B2-B2BC-17F24909B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952750"/>
            <a:ext cx="2705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74A8FF"/>
                </a:solidFill>
              </a:defRPr>
            </a:pPr>
            <a:r>
              <a:rPr sz="2475" b="1">
                <a:solidFill>
                  <a:srgbClr val="74A8FF"/>
                </a:solidFill>
              </a:rPr>
              <a:t>20-30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A7CB53-B360-4F74-A060-D39440B5C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48050"/>
            <a:ext cx="266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6BBB8"/>
                </a:solidFill>
              </a:defRPr>
            </a:pPr>
            <a:r>
              <a:rPr sz="1050" b="0">
                <a:solidFill>
                  <a:srgbClr val="A6BBB8"/>
                </a:solidFill>
              </a:rPr>
              <a:t>entretiens cibles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C4F01B-E4C2-49BD-81C3-00CF4CE90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81300"/>
            <a:ext cx="30480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7333B"/>
          </a:solidFill>
          <a:ln xmlns:a="http://schemas.openxmlformats.org/drawingml/2006/main" w="11430">
            <a:solidFill>
              <a:srgbClr val="2C4B5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811C54-0DAA-4000-8715-86E429516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952750"/>
            <a:ext cx="2705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4BE5E"/>
                </a:solidFill>
              </a:defRPr>
            </a:pPr>
            <a:r>
              <a:rPr sz="2475" b="1">
                <a:solidFill>
                  <a:srgbClr val="F4BE5E"/>
                </a:solidFill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FFE6C8-7AAA-4D29-9D56-F8FEC69A9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48050"/>
            <a:ext cx="266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6BBB8"/>
                </a:solidFill>
              </a:defRPr>
            </a:pPr>
            <a:r>
              <a:rPr sz="1050" b="0">
                <a:solidFill>
                  <a:srgbClr val="A6BBB8"/>
                </a:solidFill>
              </a:rPr>
              <a:t>cas client documente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4B7FB8-0340-41CD-93C4-3487A84CA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31623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2252C"/>
          </a:solidFill>
          <a:ln xmlns:a="http://schemas.openxmlformats.org/drawingml/2006/main" w="11430">
            <a:solidFill>
              <a:srgbClr val="2C4B5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F3B986-5785-4FBB-9DDA-4D1F5B8BB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6667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E0A6"/>
          </a:solidFill>
          <a:ln xmlns:a="http://schemas.openxmlformats.org/drawingml/2006/main" w="0">
            <a:solidFill>
              <a:srgbClr val="3EE0A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245E50-7AF4-41C7-B676-0FEE779D7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67250"/>
            <a:ext cx="2705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EE0A6"/>
                </a:solidFill>
              </a:defRPr>
            </a:pPr>
            <a:r>
              <a:rPr sz="1425" b="1">
                <a:solidFill>
                  <a:srgbClr val="3EE0A6"/>
                </a:solidFill>
              </a:rPr>
              <a:t>Mesurer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224C45-3B93-47D0-B166-C986F4F44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29200"/>
            <a:ext cx="2705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BF9"/>
                </a:solidFill>
              </a:defRPr>
            </a:pPr>
            <a:r>
              <a:rPr sz="1200" b="0">
                <a:solidFill>
                  <a:srgbClr val="F4FBF9"/>
                </a:solidFill>
              </a:rPr>
              <a:t>temps gagné, fuites bloquées, taux de documents IA-safe.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B4F6EE-12B1-4AA3-9894-CDA2996EC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457700"/>
            <a:ext cx="31623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2252C"/>
          </a:solidFill>
          <a:ln xmlns:a="http://schemas.openxmlformats.org/drawingml/2006/main" w="11430">
            <a:solidFill>
              <a:srgbClr val="2C4B5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2079DC-305F-471E-B17A-E5AD0EBBB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457700"/>
            <a:ext cx="6667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A8FF"/>
          </a:solidFill>
          <a:ln xmlns:a="http://schemas.openxmlformats.org/drawingml/2006/main" w="0">
            <a:solidFill>
              <a:srgbClr val="74A8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ACFF5C-2F1F-4840-A02A-6D9EF006D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667250"/>
            <a:ext cx="2705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4A8FF"/>
                </a:solidFill>
              </a:defRPr>
            </a:pPr>
            <a:r>
              <a:rPr sz="1425" b="1">
                <a:solidFill>
                  <a:srgbClr val="74A8FF"/>
                </a:solidFill>
              </a:rPr>
              <a:t>Signer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1F0646-4F4C-4E1C-8D11-483524279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029200"/>
            <a:ext cx="2705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BF9"/>
                </a:solidFill>
              </a:defRPr>
            </a:pPr>
            <a:r>
              <a:rPr sz="1200" b="0">
                <a:solidFill>
                  <a:srgbClr val="F4FBF9"/>
                </a:solidFill>
              </a:rPr>
              <a:t>pilote payant ou LOI avec calendrier et critères de succès.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CB445E-57F5-4107-9096-4F927C953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457700"/>
            <a:ext cx="31623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2252C"/>
          </a:solidFill>
          <a:ln xmlns:a="http://schemas.openxmlformats.org/drawingml/2006/main" w="11430">
            <a:solidFill>
              <a:srgbClr val="2C4B5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9BB95E-9E4A-4307-801B-16AC2578E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457700"/>
            <a:ext cx="6667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E5E"/>
          </a:solidFill>
          <a:ln xmlns:a="http://schemas.openxmlformats.org/drawingml/2006/main" w="0">
            <a:solidFill>
              <a:srgbClr val="F4BE5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E882FC-349A-4798-A9C8-943CFEE6A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667250"/>
            <a:ext cx="2705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BE5E"/>
                </a:solidFill>
              </a:defRPr>
            </a:pPr>
            <a:r>
              <a:rPr sz="1425" b="1">
                <a:solidFill>
                  <a:srgbClr val="F4BE5E"/>
                </a:solidFill>
              </a:rPr>
              <a:t>Prouver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BE302A-9C6B-4712-B5FA-02EA2D8B7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029200"/>
            <a:ext cx="2705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BF9"/>
                </a:solidFill>
              </a:defRPr>
            </a:pPr>
            <a:r>
              <a:rPr sz="1200" b="0">
                <a:solidFill>
                  <a:srgbClr val="F4FBF9"/>
                </a:solidFill>
              </a:rPr>
              <a:t>la douleur DPO/RSSI et l'intention de payer.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B3CCEB7-9C14-4951-AD79-D2FF37070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6BBB8"/>
                </a:solidFill>
              </a:defRPr>
            </a:pPr>
            <a:r>
              <a:rPr sz="900" b="0">
                <a:solidFill>
                  <a:srgbClr val="A6BBB8"/>
                </a:solidFill>
              </a:rPr>
              <a:t>ConfiDoc | Secure AI Chat</a:t>
            </a:r>
          </a:p>
        </p:txBody>
      </p:sp>
    </p:spTree>
    <p:extLst>
      <p:ext uri="{BB962C8B-B14F-4D97-AF65-F5344CB8AC3E}">
        <p14:creationId xmlns:p14="http://schemas.microsoft.com/office/powerpoint/2010/main" val="118463524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5A7A395-C11B-4B66-AB7F-F57A2B42D10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86EA00-87F2-4A1E-B99F-63CB19968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4"/>
          </a:solidFill>
          <a:ln xmlns:a="http://schemas.openxmlformats.org/drawingml/2006/main" w="0">
            <a:solidFill>
              <a:srgbClr val="07101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0A95AD-9307-4B95-A2E9-BA35E2C9A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-1714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C43"/>
          </a:solidFill>
          <a:ln xmlns:a="http://schemas.openxmlformats.org/drawingml/2006/main" w="0">
            <a:solidFill>
              <a:srgbClr val="153C4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32000B-6969-4851-9669-5D6AC2511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0" y="4476750"/>
            <a:ext cx="4191000" cy="419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D35"/>
          </a:solidFill>
          <a:ln xmlns:a="http://schemas.openxmlformats.org/drawingml/2006/main" w="0">
            <a:solidFill>
              <a:srgbClr val="102D3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BFE983-E23D-4467-94B6-CF094ABCC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3">
              <a:alpha val="80000"/>
            </a:srgbClr>
          </a:solidFill>
          <a:ln xmlns:a="http://schemas.openxmlformats.org/drawingml/2006/main" w="0">
            <a:solidFill>
              <a:srgbClr val="061013">
                <a:alpha val="80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9B8C7B-5769-4B2B-933B-8CDC6665B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EE0A6"/>
                </a:solidFill>
              </a:defRPr>
            </a:pPr>
            <a:r>
              <a:rPr sz="975" b="1">
                <a:solidFill>
                  <a:srgbClr val="3EE0A6"/>
                </a:solidFill>
              </a:rPr>
              <a:t>LEVÉE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165DBC-40E5-469E-AB37-1A66FDBC1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3850"/>
            <a:ext cx="1000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6BBB8"/>
                </a:solidFill>
              </a:defRPr>
            </a:pPr>
            <a:r>
              <a:rPr sz="975" b="1">
                <a:solidFill>
                  <a:srgbClr val="A6BBB8"/>
                </a:solidFill>
              </a:rPr>
              <a:t>12 / 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745807-B003-4B66-B561-9A7A6F18B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"/>
            <a:ext cx="10991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4B55"/>
          </a:solidFill>
          <a:ln xmlns:a="http://schemas.openxmlformats.org/drawingml/2006/main" w="0">
            <a:solidFill>
              <a:srgbClr val="2C4B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C8E1E0-D912-4977-866D-4199CBB38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7239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4FBF9"/>
                </a:solidFill>
              </a:defRPr>
            </a:pPr>
            <a:r>
              <a:rPr sz="3000" b="1">
                <a:solidFill>
                  <a:srgbClr val="F4FBF9"/>
                </a:solidFill>
              </a:rPr>
              <a:t>500 k€ pre-seed pour 18 mois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B3A613-CB65-4845-BD36-CAAECE7CB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7429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6BBB8"/>
                </a:solidFill>
              </a:defRPr>
            </a:pPr>
            <a:r>
              <a:rPr sz="1350" b="0">
                <a:solidFill>
                  <a:srgbClr val="A6BBB8"/>
                </a:solidFill>
              </a:rPr>
              <a:t>Objectif : passer de produit en production à pilotes payants et pipeline seed.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F3D08A-EF6C-4B25-B09B-81CC41295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23622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7333B"/>
          </a:solidFill>
          <a:ln xmlns:a="http://schemas.openxmlformats.org/drawingml/2006/main" w="11430">
            <a:solidFill>
              <a:srgbClr val="2C4B5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8098C4-547C-472E-89FA-649DDBC6A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52750"/>
            <a:ext cx="2019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3EE0A6"/>
                </a:solidFill>
              </a:defRPr>
            </a:pPr>
            <a:r>
              <a:rPr sz="2475" b="1">
                <a:solidFill>
                  <a:srgbClr val="3EE0A6"/>
                </a:solidFill>
              </a:rPr>
              <a:t>35%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84517D-D520-4DB7-B78D-11E851D3D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48050"/>
            <a:ext cx="1981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6BBB8"/>
                </a:solidFill>
              </a:defRPr>
            </a:pPr>
            <a:r>
              <a:rPr sz="1050" b="0">
                <a:solidFill>
                  <a:srgbClr val="A6BBB8"/>
                </a:solidFill>
              </a:rPr>
              <a:t>GTM / pilotes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E0B741-5C63-4CC0-9E06-B1439AE3A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781300"/>
            <a:ext cx="23622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7333B"/>
          </a:solidFill>
          <a:ln xmlns:a="http://schemas.openxmlformats.org/drawingml/2006/main" w="11430">
            <a:solidFill>
              <a:srgbClr val="2C4B5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7CFF89-3557-4C87-B19C-4CB85B54F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952750"/>
            <a:ext cx="2019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74A8FF"/>
                </a:solidFill>
              </a:defRPr>
            </a:pPr>
            <a:r>
              <a:rPr sz="2475" b="1">
                <a:solidFill>
                  <a:srgbClr val="74A8FF"/>
                </a:solidFill>
              </a:rPr>
              <a:t>30%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5EC86F-4CEE-4EA8-B9AC-96FCD2E53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448050"/>
            <a:ext cx="1981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6BBB8"/>
                </a:solidFill>
              </a:defRPr>
            </a:pPr>
            <a:r>
              <a:rPr sz="1050" b="0">
                <a:solidFill>
                  <a:srgbClr val="A6BBB8"/>
                </a:solidFill>
              </a:rPr>
              <a:t>produit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1BD3F4-D61A-4F61-811D-AE027A00E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81300"/>
            <a:ext cx="23622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7333B"/>
          </a:solidFill>
          <a:ln xmlns:a="http://schemas.openxmlformats.org/drawingml/2006/main" w="11430">
            <a:solidFill>
              <a:srgbClr val="2C4B5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C812ED-A6EA-42EE-83C1-B5855CDEE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52750"/>
            <a:ext cx="2019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4BE5E"/>
                </a:solidFill>
              </a:defRPr>
            </a:pPr>
            <a:r>
              <a:rPr sz="2475" b="1">
                <a:solidFill>
                  <a:srgbClr val="F4BE5E"/>
                </a:solidFill>
              </a:rPr>
              <a:t>15%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7C0F4E-C034-4A7B-AD44-B2F8B41A8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48050"/>
            <a:ext cx="1981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6BBB8"/>
                </a:solidFill>
              </a:defRPr>
            </a:pPr>
            <a:r>
              <a:rPr sz="1050" b="0">
                <a:solidFill>
                  <a:srgbClr val="A6BBB8"/>
                </a:solidFill>
              </a:rPr>
              <a:t>securite &amp; legal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6D1523-B55B-4CE5-AADA-2D6BAE14A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781300"/>
            <a:ext cx="23622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7333B"/>
          </a:solidFill>
          <a:ln xmlns:a="http://schemas.openxmlformats.org/drawingml/2006/main" w="11430">
            <a:solidFill>
              <a:srgbClr val="2C4B5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DAEFEB-49A7-4820-9CED-A57987275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952750"/>
            <a:ext cx="2019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F6B6B"/>
                </a:solidFill>
              </a:defRPr>
            </a:pPr>
            <a:r>
              <a:rPr sz="2475" b="1">
                <a:solidFill>
                  <a:srgbClr val="FF6B6B"/>
                </a:solidFill>
              </a:rPr>
              <a:t>20%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1C46F9-23C7-4AA1-AAD1-56EB5859F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448050"/>
            <a:ext cx="1981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6BBB8"/>
                </a:solidFill>
              </a:defRPr>
            </a:pPr>
            <a:r>
              <a:rPr sz="1050" b="0">
                <a:solidFill>
                  <a:srgbClr val="A6BBB8"/>
                </a:solidFill>
              </a:rPr>
              <a:t>operations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65963B-CE6F-4C42-8264-71A35200E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31623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2252C"/>
          </a:solidFill>
          <a:ln xmlns:a="http://schemas.openxmlformats.org/drawingml/2006/main" w="11430">
            <a:solidFill>
              <a:srgbClr val="2C4B5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15737F-F755-4241-A9C9-7B7CD8A2E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6667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E0A6"/>
          </a:solidFill>
          <a:ln xmlns:a="http://schemas.openxmlformats.org/drawingml/2006/main" w="0">
            <a:solidFill>
              <a:srgbClr val="3EE0A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441162-E01E-4057-BF9A-4ED0514BD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67250"/>
            <a:ext cx="2705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EE0A6"/>
                </a:solidFill>
              </a:defRPr>
            </a:pPr>
            <a:r>
              <a:rPr sz="1425" b="1">
                <a:solidFill>
                  <a:srgbClr val="3EE0A6"/>
                </a:solidFill>
              </a:rPr>
              <a:t>Recruter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8120FB-5321-4874-B72E-B1B78E844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29200"/>
            <a:ext cx="2705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BF9"/>
                </a:solidFill>
              </a:defRPr>
            </a:pPr>
            <a:r>
              <a:rPr sz="1200" b="0">
                <a:solidFill>
                  <a:srgbClr val="F4FBF9"/>
                </a:solidFill>
              </a:rPr>
              <a:t>premier profil GTM et un dev produit.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2ADDEA-191E-4141-8513-FE840B2D5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457700"/>
            <a:ext cx="31623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2252C"/>
          </a:solidFill>
          <a:ln xmlns:a="http://schemas.openxmlformats.org/drawingml/2006/main" w="11430">
            <a:solidFill>
              <a:srgbClr val="2C4B5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C97A31-5C68-4A68-8005-D716994CD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457700"/>
            <a:ext cx="6667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A8FF"/>
          </a:solidFill>
          <a:ln xmlns:a="http://schemas.openxmlformats.org/drawingml/2006/main" w="0">
            <a:solidFill>
              <a:srgbClr val="74A8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6C4960-127A-43C1-BE6C-2CBFC5B8A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667250"/>
            <a:ext cx="2705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4A8FF"/>
                </a:solidFill>
              </a:defRPr>
            </a:pPr>
            <a:r>
              <a:rPr sz="1425" b="1">
                <a:solidFill>
                  <a:srgbClr val="74A8FF"/>
                </a:solidFill>
              </a:rPr>
              <a:t>Durcir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463777F-B182-4F96-BCB9-D6A7EE6B0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029200"/>
            <a:ext cx="2705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BF9"/>
                </a:solidFill>
              </a:defRPr>
            </a:pPr>
            <a:r>
              <a:rPr sz="1200" b="0">
                <a:solidFill>
                  <a:srgbClr val="F4FBF9"/>
                </a:solidFill>
              </a:rPr>
              <a:t>DPA, pentest, logs, packaging enterprise.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455D9E-9AF8-4354-AAA6-D70251455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457700"/>
            <a:ext cx="31623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2252C"/>
          </a:solidFill>
          <a:ln xmlns:a="http://schemas.openxmlformats.org/drawingml/2006/main" w="11430">
            <a:solidFill>
              <a:srgbClr val="2C4B5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79E16C4-70AD-4D39-8A46-659F214D6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457700"/>
            <a:ext cx="6667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E5E"/>
          </a:solidFill>
          <a:ln xmlns:a="http://schemas.openxmlformats.org/drawingml/2006/main" w="0">
            <a:solidFill>
              <a:srgbClr val="F4BE5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2CC3D4D-ADF5-4891-9D7C-5F04EABC8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667250"/>
            <a:ext cx="2705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BE5E"/>
                </a:solidFill>
              </a:defRPr>
            </a:pPr>
            <a:r>
              <a:rPr sz="1425" b="1">
                <a:solidFill>
                  <a:srgbClr val="F4BE5E"/>
                </a:solidFill>
              </a:rPr>
              <a:t>Valider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AC15FEA-C464-4A9C-BB3B-3D1A37492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029200"/>
            <a:ext cx="2705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BF9"/>
                </a:solidFill>
              </a:defRPr>
            </a:pPr>
            <a:r>
              <a:rPr sz="1200" b="0">
                <a:solidFill>
                  <a:srgbClr val="F4FBF9"/>
                </a:solidFill>
              </a:rPr>
              <a:t>wedge document avant extension Agent Firewall / MCP Gateway.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1CB229A-4681-4170-8030-ADC6AAAB1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6BBB8"/>
                </a:solidFill>
              </a:defRPr>
            </a:pPr>
            <a:r>
              <a:rPr sz="900" b="0">
                <a:solidFill>
                  <a:srgbClr val="A6BBB8"/>
                </a:solidFill>
              </a:rPr>
              <a:t>ConfiDoc | Secure AI Chat</a:t>
            </a:r>
          </a:p>
        </p:txBody>
      </p:sp>
    </p:spTree>
    <p:extLst>
      <p:ext uri="{BB962C8B-B14F-4D97-AF65-F5344CB8AC3E}">
        <p14:creationId xmlns:p14="http://schemas.microsoft.com/office/powerpoint/2010/main" val="2046512515"/>
      </p:ext>
    </p:extLst>
  </p:cSld>
</p:sld>
</file>

<file path=ppt/theme/theme1.xml><?xml version="1.0" encoding="utf-8"?>
<a:theme xmlns:a="http://schemas.openxmlformats.org/drawingml/2006/main" name="ConfiDoc Security">
  <a:themeElements>
    <a:clrScheme name="ConfiDoc Security">
      <a:accent1>
        <a:srgbClr val="3EE0A6"/>
      </a:accent1>
      <a:accent2>
        <a:srgbClr val="74A8FF"/>
      </a:accent2>
      <a:accent3>
        <a:srgbClr val="F4BE5E"/>
      </a:accent3>
      <a:accent4>
        <a:srgbClr val="FF6B6B"/>
      </a:accent4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onfiDoc Security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2026-07-10T11:15:34.7870000Z</dcterms:created>
  <dcterms:modified xsi:type="dcterms:W3CDTF">2026-07-10T11:15:34.7870000Z</dcterms:modified>
</coreProperties>
</file>